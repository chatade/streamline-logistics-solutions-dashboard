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4"/>
  </p:sldMasterIdLst>
  <p:notesMasterIdLst>
    <p:notesMasterId r:id="rId19"/>
  </p:notesMasterIdLst>
  <p:handoutMasterIdLst>
    <p:handoutMasterId r:id="rId20"/>
  </p:handoutMasterIdLst>
  <p:sldIdLst>
    <p:sldId id="278" r:id="rId5"/>
    <p:sldId id="282" r:id="rId6"/>
    <p:sldId id="293" r:id="rId7"/>
    <p:sldId id="294" r:id="rId8"/>
    <p:sldId id="295" r:id="rId9"/>
    <p:sldId id="297" r:id="rId10"/>
    <p:sldId id="296" r:id="rId11"/>
    <p:sldId id="298" r:id="rId12"/>
    <p:sldId id="306" r:id="rId13"/>
    <p:sldId id="307" r:id="rId14"/>
    <p:sldId id="308" r:id="rId15"/>
    <p:sldId id="309" r:id="rId16"/>
    <p:sldId id="310" r:id="rId17"/>
    <p:sldId id="29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p15:clr>
            <a:srgbClr val="F26B43"/>
          </p15:clr>
        </p15:guide>
        <p15:guide id="3"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p:cViewPr varScale="1">
        <p:scale>
          <a:sx n="74" d="100"/>
          <a:sy n="74" d="100"/>
        </p:scale>
        <p:origin x="82" y="202"/>
      </p:cViewPr>
      <p:guideLst>
        <p:guide pos="3840"/>
        <p:guide orient="horz" pos="2160"/>
      </p:guideLst>
    </p:cSldViewPr>
  </p:slideViewPr>
  <p:outlineViewPr>
    <p:cViewPr>
      <p:scale>
        <a:sx n="33" d="100"/>
        <a:sy n="33" d="100"/>
      </p:scale>
      <p:origin x="0" y="-4320"/>
    </p:cViewPr>
  </p:outlineViewPr>
  <p:notesTextViewPr>
    <p:cViewPr>
      <p:scale>
        <a:sx n="1" d="1"/>
        <a:sy n="1" d="1"/>
      </p:scale>
      <p:origin x="0" y="0"/>
    </p:cViewPr>
  </p:notesTextViewPr>
  <p:sorterViewPr>
    <p:cViewPr>
      <p:scale>
        <a:sx n="100" d="100"/>
        <a:sy n="100" d="100"/>
      </p:scale>
      <p:origin x="0" y="-1757"/>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elanwa Ogunlolu" userId="f501263d49f667bf" providerId="LiveId" clId="{36B3742A-B73C-47BA-A184-CAD362153118}"/>
    <pc:docChg chg="undo custSel addSld delSld modSld">
      <pc:chgData name="Adelanwa Ogunlolu" userId="f501263d49f667bf" providerId="LiveId" clId="{36B3742A-B73C-47BA-A184-CAD362153118}" dt="2026-07-24T19:57:45.001" v="1110" actId="2696"/>
      <pc:docMkLst>
        <pc:docMk/>
      </pc:docMkLst>
      <pc:sldChg chg="new del">
        <pc:chgData name="Adelanwa Ogunlolu" userId="f501263d49f667bf" providerId="LiveId" clId="{36B3742A-B73C-47BA-A184-CAD362153118}" dt="2026-07-24T19:57:45.001" v="1110" actId="2696"/>
        <pc:sldMkLst>
          <pc:docMk/>
          <pc:sldMk cId="3268668877" sldId="31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5F4DCF1-ECAF-F7A7-2FE7-5E8E893BC44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C1330B0-5BAC-7408-8C3C-78D8336840E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7BC71B-6527-4638-937B-C93EB849CB02}" type="datetimeFigureOut">
              <a:rPr lang="en-US" smtClean="0"/>
              <a:t>7/24/2026</a:t>
            </a:fld>
            <a:endParaRPr lang="en-US" dirty="0"/>
          </a:p>
        </p:txBody>
      </p:sp>
      <p:sp>
        <p:nvSpPr>
          <p:cNvPr id="4" name="Footer Placeholder 3">
            <a:extLst>
              <a:ext uri="{FF2B5EF4-FFF2-40B4-BE49-F238E27FC236}">
                <a16:creationId xmlns:a16="http://schemas.microsoft.com/office/drawing/2014/main" id="{F0D7EEB3-E0A5-7440-F7ED-F59975ED1E8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F548D11-7466-6432-3BF5-64A1A1FA59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A70580-B89C-4157-871D-6B9318EE5F58}" type="slidenum">
              <a:rPr lang="en-US" smtClean="0"/>
              <a:t>‹#›</a:t>
            </a:fld>
            <a:endParaRPr lang="en-US" dirty="0"/>
          </a:p>
        </p:txBody>
      </p:sp>
    </p:spTree>
    <p:extLst>
      <p:ext uri="{BB962C8B-B14F-4D97-AF65-F5344CB8AC3E}">
        <p14:creationId xmlns:p14="http://schemas.microsoft.com/office/powerpoint/2010/main" val="2943157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5465A2-8C9C-419F-9FD8-234480873777}" type="datetimeFigureOut">
              <a:rPr lang="en-US" smtClean="0"/>
              <a:t>7/24/2026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AF00E9-A49D-4007-B3B9-A3783809E505}" type="slidenum">
              <a:rPr lang="en-US" smtClean="0"/>
              <a:t>‹#›</a:t>
            </a:fld>
            <a:endParaRPr lang="en-US" dirty="0"/>
          </a:p>
        </p:txBody>
      </p:sp>
    </p:spTree>
    <p:extLst>
      <p:ext uri="{BB962C8B-B14F-4D97-AF65-F5344CB8AC3E}">
        <p14:creationId xmlns:p14="http://schemas.microsoft.com/office/powerpoint/2010/main" val="220969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1</a:t>
            </a:fld>
            <a:endParaRPr lang="en-US" dirty="0"/>
          </a:p>
        </p:txBody>
      </p:sp>
    </p:spTree>
    <p:extLst>
      <p:ext uri="{BB962C8B-B14F-4D97-AF65-F5344CB8AC3E}">
        <p14:creationId xmlns:p14="http://schemas.microsoft.com/office/powerpoint/2010/main" val="2189223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2</a:t>
            </a:fld>
            <a:endParaRPr lang="en-US" dirty="0"/>
          </a:p>
        </p:txBody>
      </p:sp>
    </p:spTree>
    <p:extLst>
      <p:ext uri="{BB962C8B-B14F-4D97-AF65-F5344CB8AC3E}">
        <p14:creationId xmlns:p14="http://schemas.microsoft.com/office/powerpoint/2010/main" val="560649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26914-9597-1A22-11F6-BAC761F197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5C5201-C00E-0E3C-6EB5-156BE34C05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531931-E937-343D-AD9E-878D0E0B44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CC89E2-B93B-8219-6453-1AAA973CC526}"/>
              </a:ext>
            </a:extLst>
          </p:cNvPr>
          <p:cNvSpPr>
            <a:spLocks noGrp="1"/>
          </p:cNvSpPr>
          <p:nvPr>
            <p:ph type="sldNum" sz="quarter" idx="5"/>
          </p:nvPr>
        </p:nvSpPr>
        <p:spPr/>
        <p:txBody>
          <a:bodyPr/>
          <a:lstStyle/>
          <a:p>
            <a:fld id="{E7AF00E9-A49D-4007-B3B9-A3783809E505}" type="slidenum">
              <a:rPr lang="en-US" smtClean="0"/>
              <a:t>3</a:t>
            </a:fld>
            <a:endParaRPr lang="en-US" dirty="0"/>
          </a:p>
        </p:txBody>
      </p:sp>
    </p:spTree>
    <p:extLst>
      <p:ext uri="{BB962C8B-B14F-4D97-AF65-F5344CB8AC3E}">
        <p14:creationId xmlns:p14="http://schemas.microsoft.com/office/powerpoint/2010/main" val="454964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2A527-58C9-5A67-AA04-F0042ECF4A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A02F8F-E099-783F-6919-06FE4ED47B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CAD7A7-CB45-70C5-42C6-EE7BD3B2B5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C004F1-AD54-45C4-3387-D91E943B565D}"/>
              </a:ext>
            </a:extLst>
          </p:cNvPr>
          <p:cNvSpPr>
            <a:spLocks noGrp="1"/>
          </p:cNvSpPr>
          <p:nvPr>
            <p:ph type="sldNum" sz="quarter" idx="5"/>
          </p:nvPr>
        </p:nvSpPr>
        <p:spPr/>
        <p:txBody>
          <a:bodyPr/>
          <a:lstStyle/>
          <a:p>
            <a:fld id="{E7AF00E9-A49D-4007-B3B9-A3783809E505}" type="slidenum">
              <a:rPr lang="en-US" smtClean="0"/>
              <a:t>4</a:t>
            </a:fld>
            <a:endParaRPr lang="en-US" dirty="0"/>
          </a:p>
        </p:txBody>
      </p:sp>
    </p:spTree>
    <p:extLst>
      <p:ext uri="{BB962C8B-B14F-4D97-AF65-F5344CB8AC3E}">
        <p14:creationId xmlns:p14="http://schemas.microsoft.com/office/powerpoint/2010/main" val="2271472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FF874-29A9-0499-A860-5F5C38876A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FB68D2-9779-5C78-E653-F3261D870D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DDFA57-B63D-EC32-DBF3-BBCCAB2FD8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9867CF-5804-B34A-5559-D5DDFCC48E92}"/>
              </a:ext>
            </a:extLst>
          </p:cNvPr>
          <p:cNvSpPr>
            <a:spLocks noGrp="1"/>
          </p:cNvSpPr>
          <p:nvPr>
            <p:ph type="sldNum" sz="quarter" idx="5"/>
          </p:nvPr>
        </p:nvSpPr>
        <p:spPr/>
        <p:txBody>
          <a:bodyPr/>
          <a:lstStyle/>
          <a:p>
            <a:fld id="{E7AF00E9-A49D-4007-B3B9-A3783809E505}" type="slidenum">
              <a:rPr lang="en-US" smtClean="0"/>
              <a:t>5</a:t>
            </a:fld>
            <a:endParaRPr lang="en-US" dirty="0"/>
          </a:p>
        </p:txBody>
      </p:sp>
    </p:spTree>
    <p:extLst>
      <p:ext uri="{BB962C8B-B14F-4D97-AF65-F5344CB8AC3E}">
        <p14:creationId xmlns:p14="http://schemas.microsoft.com/office/powerpoint/2010/main" val="21507938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057FD-832D-9D55-EF7E-77B7DCE01A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AE3F61-A368-1291-6339-613690E18B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00E50B-D5F2-81ED-156D-F699F018AB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3264F2-57EF-0626-F728-9DF8C6DB03F9}"/>
              </a:ext>
            </a:extLst>
          </p:cNvPr>
          <p:cNvSpPr>
            <a:spLocks noGrp="1"/>
          </p:cNvSpPr>
          <p:nvPr>
            <p:ph type="sldNum" sz="quarter" idx="5"/>
          </p:nvPr>
        </p:nvSpPr>
        <p:spPr/>
        <p:txBody>
          <a:bodyPr/>
          <a:lstStyle/>
          <a:p>
            <a:fld id="{E7AF00E9-A49D-4007-B3B9-A3783809E505}" type="slidenum">
              <a:rPr lang="en-US" smtClean="0"/>
              <a:t>6</a:t>
            </a:fld>
            <a:endParaRPr lang="en-US" dirty="0"/>
          </a:p>
        </p:txBody>
      </p:sp>
    </p:spTree>
    <p:extLst>
      <p:ext uri="{BB962C8B-B14F-4D97-AF65-F5344CB8AC3E}">
        <p14:creationId xmlns:p14="http://schemas.microsoft.com/office/powerpoint/2010/main" val="3148224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3FB5D-F1FA-2CB9-5E04-C487CCA83A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9E0FD9-A361-5A52-90E5-CF79611F90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894209-4687-9E9B-75FA-1ECC395268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A1E7EB-98D4-4532-5007-233600C1BAD1}"/>
              </a:ext>
            </a:extLst>
          </p:cNvPr>
          <p:cNvSpPr>
            <a:spLocks noGrp="1"/>
          </p:cNvSpPr>
          <p:nvPr>
            <p:ph type="sldNum" sz="quarter" idx="5"/>
          </p:nvPr>
        </p:nvSpPr>
        <p:spPr/>
        <p:txBody>
          <a:bodyPr/>
          <a:lstStyle/>
          <a:p>
            <a:fld id="{E7AF00E9-A49D-4007-B3B9-A3783809E505}" type="slidenum">
              <a:rPr lang="en-US" smtClean="0"/>
              <a:t>7</a:t>
            </a:fld>
            <a:endParaRPr lang="en-US" dirty="0"/>
          </a:p>
        </p:txBody>
      </p:sp>
    </p:spTree>
    <p:extLst>
      <p:ext uri="{BB962C8B-B14F-4D97-AF65-F5344CB8AC3E}">
        <p14:creationId xmlns:p14="http://schemas.microsoft.com/office/powerpoint/2010/main" val="23783489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AB55B-00B9-7348-D464-2D240117C2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D16F03-9C9F-81DB-99D9-3DE1A86FF7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FCE83C-13EA-62FE-7FC9-575205AE37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4A616B-2AA9-F7A8-1A70-339608B1020D}"/>
              </a:ext>
            </a:extLst>
          </p:cNvPr>
          <p:cNvSpPr>
            <a:spLocks noGrp="1"/>
          </p:cNvSpPr>
          <p:nvPr>
            <p:ph type="sldNum" sz="quarter" idx="5"/>
          </p:nvPr>
        </p:nvSpPr>
        <p:spPr/>
        <p:txBody>
          <a:bodyPr/>
          <a:lstStyle/>
          <a:p>
            <a:fld id="{E7AF00E9-A49D-4007-B3B9-A3783809E505}" type="slidenum">
              <a:rPr lang="en-US" smtClean="0"/>
              <a:t>8</a:t>
            </a:fld>
            <a:endParaRPr lang="en-US" dirty="0"/>
          </a:p>
        </p:txBody>
      </p:sp>
    </p:spTree>
    <p:extLst>
      <p:ext uri="{BB962C8B-B14F-4D97-AF65-F5344CB8AC3E}">
        <p14:creationId xmlns:p14="http://schemas.microsoft.com/office/powerpoint/2010/main" val="18917176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3E5B5-264B-3C05-F6BD-5C22CE482C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FAA6ED-1AD7-9D6C-4CEA-C2A7B106C6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CA2A65-001D-BF58-3F21-320EC391A4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F29D19-7E4A-AB5A-F18E-13D75DEFFDFF}"/>
              </a:ext>
            </a:extLst>
          </p:cNvPr>
          <p:cNvSpPr>
            <a:spLocks noGrp="1"/>
          </p:cNvSpPr>
          <p:nvPr>
            <p:ph type="sldNum" sz="quarter" idx="5"/>
          </p:nvPr>
        </p:nvSpPr>
        <p:spPr/>
        <p:txBody>
          <a:bodyPr/>
          <a:lstStyle/>
          <a:p>
            <a:fld id="{E7AF00E9-A49D-4007-B3B9-A3783809E505}" type="slidenum">
              <a:rPr lang="en-US" smtClean="0"/>
              <a:t>9</a:t>
            </a:fld>
            <a:endParaRPr lang="en-US" dirty="0"/>
          </a:p>
        </p:txBody>
      </p:sp>
    </p:spTree>
    <p:extLst>
      <p:ext uri="{BB962C8B-B14F-4D97-AF65-F5344CB8AC3E}">
        <p14:creationId xmlns:p14="http://schemas.microsoft.com/office/powerpoint/2010/main" val="33744680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3C914-9624-693F-1B37-C9432B6AEF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487EBF-BC0F-0D91-E4E1-D70FE4B957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D93912-EEE1-8BF8-210F-67BEE94FAC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D2BA7E-3E51-EBFB-209A-7847326461FF}"/>
              </a:ext>
            </a:extLst>
          </p:cNvPr>
          <p:cNvSpPr>
            <a:spLocks noGrp="1"/>
          </p:cNvSpPr>
          <p:nvPr>
            <p:ph type="sldNum" sz="quarter" idx="5"/>
          </p:nvPr>
        </p:nvSpPr>
        <p:spPr/>
        <p:txBody>
          <a:bodyPr/>
          <a:lstStyle/>
          <a:p>
            <a:fld id="{E7AF00E9-A49D-4007-B3B9-A3783809E505}" type="slidenum">
              <a:rPr lang="en-US" smtClean="0"/>
              <a:t>10</a:t>
            </a:fld>
            <a:endParaRPr lang="en-US" dirty="0"/>
          </a:p>
        </p:txBody>
      </p:sp>
    </p:spTree>
    <p:extLst>
      <p:ext uri="{BB962C8B-B14F-4D97-AF65-F5344CB8AC3E}">
        <p14:creationId xmlns:p14="http://schemas.microsoft.com/office/powerpoint/2010/main" val="14001153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A50B8-1719-D272-F94D-5BDA536933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264BCC-EAC9-87A4-EC63-6A3C4ACA7B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D50A96-A653-A4BC-2B0D-8364F65640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F0BE5F-4418-B965-E94B-56E657B78661}"/>
              </a:ext>
            </a:extLst>
          </p:cNvPr>
          <p:cNvSpPr>
            <a:spLocks noGrp="1"/>
          </p:cNvSpPr>
          <p:nvPr>
            <p:ph type="sldNum" sz="quarter" idx="5"/>
          </p:nvPr>
        </p:nvSpPr>
        <p:spPr/>
        <p:txBody>
          <a:bodyPr/>
          <a:lstStyle/>
          <a:p>
            <a:fld id="{E7AF00E9-A49D-4007-B3B9-A3783809E505}" type="slidenum">
              <a:rPr lang="en-US" smtClean="0"/>
              <a:t>11</a:t>
            </a:fld>
            <a:endParaRPr lang="en-US" dirty="0"/>
          </a:p>
        </p:txBody>
      </p:sp>
    </p:spTree>
    <p:extLst>
      <p:ext uri="{BB962C8B-B14F-4D97-AF65-F5344CB8AC3E}">
        <p14:creationId xmlns:p14="http://schemas.microsoft.com/office/powerpoint/2010/main" val="41976398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E3AF7-A05F-FA1C-4ECF-CA3049D03F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CB2BDE-D592-ADFD-CA85-14885B368F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0B75DC-9026-FAE1-0219-BBDC4934D8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1C0982-BAF6-8203-23DD-22748D45B5F0}"/>
              </a:ext>
            </a:extLst>
          </p:cNvPr>
          <p:cNvSpPr>
            <a:spLocks noGrp="1"/>
          </p:cNvSpPr>
          <p:nvPr>
            <p:ph type="sldNum" sz="quarter" idx="5"/>
          </p:nvPr>
        </p:nvSpPr>
        <p:spPr/>
        <p:txBody>
          <a:bodyPr/>
          <a:lstStyle/>
          <a:p>
            <a:fld id="{E7AF00E9-A49D-4007-B3B9-A3783809E505}" type="slidenum">
              <a:rPr lang="en-US" smtClean="0"/>
              <a:t>12</a:t>
            </a:fld>
            <a:endParaRPr lang="en-US" dirty="0"/>
          </a:p>
        </p:txBody>
      </p:sp>
    </p:spTree>
    <p:extLst>
      <p:ext uri="{BB962C8B-B14F-4D97-AF65-F5344CB8AC3E}">
        <p14:creationId xmlns:p14="http://schemas.microsoft.com/office/powerpoint/2010/main" val="228296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35AF9-AC03-4C00-3DB6-FD64F565D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1BE30-A18D-D090-DE81-EE5E1F3B50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71EEDC-BE72-5430-61D5-D6F6603A43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3FF491-AD4B-6221-6870-064E4CD3CC8A}"/>
              </a:ext>
            </a:extLst>
          </p:cNvPr>
          <p:cNvSpPr>
            <a:spLocks noGrp="1"/>
          </p:cNvSpPr>
          <p:nvPr>
            <p:ph type="sldNum" sz="quarter" idx="5"/>
          </p:nvPr>
        </p:nvSpPr>
        <p:spPr/>
        <p:txBody>
          <a:bodyPr/>
          <a:lstStyle/>
          <a:p>
            <a:fld id="{E7AF00E9-A49D-4007-B3B9-A3783809E505}" type="slidenum">
              <a:rPr lang="en-US" smtClean="0"/>
              <a:t>13</a:t>
            </a:fld>
            <a:endParaRPr lang="en-US" dirty="0"/>
          </a:p>
        </p:txBody>
      </p:sp>
    </p:spTree>
    <p:extLst>
      <p:ext uri="{BB962C8B-B14F-4D97-AF65-F5344CB8AC3E}">
        <p14:creationId xmlns:p14="http://schemas.microsoft.com/office/powerpoint/2010/main" val="11920439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37E81-5056-3F7C-C808-0A2822CE9B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EE2790-8770-BC58-3F29-AEFA7B8D2C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48A310-5D96-4909-4420-5AAE44420C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4303B0-9E91-8EC9-C472-6FE587CF8675}"/>
              </a:ext>
            </a:extLst>
          </p:cNvPr>
          <p:cNvSpPr>
            <a:spLocks noGrp="1"/>
          </p:cNvSpPr>
          <p:nvPr>
            <p:ph type="sldNum" sz="quarter" idx="5"/>
          </p:nvPr>
        </p:nvSpPr>
        <p:spPr/>
        <p:txBody>
          <a:bodyPr/>
          <a:lstStyle/>
          <a:p>
            <a:fld id="{E7AF00E9-A49D-4007-B3B9-A3783809E505}" type="slidenum">
              <a:rPr lang="en-US" smtClean="0"/>
              <a:t>14</a:t>
            </a:fld>
            <a:endParaRPr lang="en-US" dirty="0"/>
          </a:p>
        </p:txBody>
      </p:sp>
    </p:spTree>
    <p:extLst>
      <p:ext uri="{BB962C8B-B14F-4D97-AF65-F5344CB8AC3E}">
        <p14:creationId xmlns:p14="http://schemas.microsoft.com/office/powerpoint/2010/main" val="37981482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7394-0A20-4CF6-9066-CFC2C1C9D30F}"/>
              </a:ext>
            </a:extLst>
          </p:cNvPr>
          <p:cNvSpPr>
            <a:spLocks noGrp="1"/>
          </p:cNvSpPr>
          <p:nvPr>
            <p:ph type="ctrTitle"/>
          </p:nvPr>
        </p:nvSpPr>
        <p:spPr>
          <a:xfrm>
            <a:off x="3359149" y="389840"/>
            <a:ext cx="8281987" cy="2954655"/>
          </a:xfrm>
        </p:spPr>
        <p:txBody>
          <a:bodyPr anchor="t" anchorCtr="0">
            <a:normAutofit/>
          </a:bodyPr>
          <a:lstStyle>
            <a:lvl1pPr algn="l">
              <a:lnSpc>
                <a:spcPct val="100000"/>
              </a:lnSpc>
              <a:defRPr sz="6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F10971F-8922-4B23-9C80-0643D7E35026}"/>
              </a:ext>
            </a:extLst>
          </p:cNvPr>
          <p:cNvSpPr>
            <a:spLocks noGrp="1"/>
          </p:cNvSpPr>
          <p:nvPr>
            <p:ph type="subTitle" idx="1"/>
          </p:nvPr>
        </p:nvSpPr>
        <p:spPr>
          <a:xfrm>
            <a:off x="3359149" y="3536951"/>
            <a:ext cx="8281989" cy="2555874"/>
          </a:xfrm>
        </p:spPr>
        <p:txBody>
          <a:bodyPr>
            <a:norm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lstStyle/>
          <a:p>
            <a:fld id="{DBA1B0FB-D917-4C8C-928F-313BD683BF39}" type="slidenum">
              <a:rPr lang="en-US" smtClean="0"/>
              <a:t>‹#›</a:t>
            </a:fld>
            <a:endParaRPr lang="en-US" dirty="0"/>
          </a:p>
        </p:txBody>
      </p:sp>
      <p:sp>
        <p:nvSpPr>
          <p:cNvPr id="19" name="Freeform: Shape 18">
            <a:extLst>
              <a:ext uri="{FF2B5EF4-FFF2-40B4-BE49-F238E27FC236}">
                <a16:creationId xmlns:a16="http://schemas.microsoft.com/office/drawing/2014/main" id="{82184FF4-7029-4ED7-813A-192E60608764}"/>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33">
            <a:extLst>
              <a:ext uri="{FF2B5EF4-FFF2-40B4-BE49-F238E27FC236}">
                <a16:creationId xmlns:a16="http://schemas.microsoft.com/office/drawing/2014/main" id="{79DE9FAB-6BBA-4CFE-B67D-77B47F01ECA4}"/>
              </a:ext>
            </a:extLst>
          </p:cNvPr>
          <p:cNvGrpSpPr/>
          <p:nvPr/>
        </p:nvGrpSpPr>
        <p:grpSpPr>
          <a:xfrm>
            <a:off x="1329952" y="4524379"/>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393626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DBC526-6DCD-4FF6-8395-D8C22E46E527}"/>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p:nvPr>
        </p:nvSpPr>
        <p:spPr>
          <a:xfrm>
            <a:off x="550862" y="549275"/>
            <a:ext cx="11091600" cy="1332000"/>
          </a:xfrm>
        </p:spPr>
        <p:txBody>
          <a:bodyPr vert="horz" wrap="square" lIns="0" tIns="0" rIns="0" bIns="0" rtlCol="0" anchor="t" anchorCtr="0">
            <a:normAutofit/>
          </a:bodyPr>
          <a:lstStyle>
            <a:lvl1pPr>
              <a:defRPr lang="en-US" dirty="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p:nvPr>
        </p:nvSpPr>
        <p:spPr>
          <a:xfrm>
            <a:off x="550863" y="2113199"/>
            <a:ext cx="11090274" cy="39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263223463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4644CBB8-40B8-42F8-9172-07A476341DDA}"/>
              </a:ext>
            </a:extLst>
          </p:cNvPr>
          <p:cNvGrpSpPr/>
          <p:nvPr/>
        </p:nvGrpSpPr>
        <p:grpSpPr>
          <a:xfrm>
            <a:off x="356481" y="879007"/>
            <a:ext cx="734257" cy="760506"/>
            <a:chOff x="5243759" y="1363788"/>
            <a:chExt cx="734257" cy="760506"/>
          </a:xfrm>
        </p:grpSpPr>
        <p:sp>
          <p:nvSpPr>
            <p:cNvPr id="49" name="Freeform 5">
              <a:extLst>
                <a:ext uri="{FF2B5EF4-FFF2-40B4-BE49-F238E27FC236}">
                  <a16:creationId xmlns:a16="http://schemas.microsoft.com/office/drawing/2014/main" id="{35CE073E-302A-4AA7-98C7-8667DDDCFA18}"/>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0" name="Freeform 6">
              <a:extLst>
                <a:ext uri="{FF2B5EF4-FFF2-40B4-BE49-F238E27FC236}">
                  <a16:creationId xmlns:a16="http://schemas.microsoft.com/office/drawing/2014/main" id="{4FD1AE2F-DD70-4E93-B905-E052A23F0B1C}"/>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1" name="Freeform 8">
              <a:extLst>
                <a:ext uri="{FF2B5EF4-FFF2-40B4-BE49-F238E27FC236}">
                  <a16:creationId xmlns:a16="http://schemas.microsoft.com/office/drawing/2014/main" id="{E8D529E5-8838-47F0-98A4-2D46F11E499C}"/>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5DA2564-D3DB-48AD-83F0-6CC6B5743960}"/>
              </a:ext>
            </a:extLst>
          </p:cNvPr>
          <p:cNvSpPr>
            <a:spLocks noGrp="1"/>
          </p:cNvSpPr>
          <p:nvPr>
            <p:ph type="title"/>
          </p:nvPr>
        </p:nvSpPr>
        <p:spPr>
          <a:xfrm>
            <a:off x="563563" y="474345"/>
            <a:ext cx="11077574" cy="2954655"/>
          </a:xfrm>
        </p:spPr>
        <p:txBody>
          <a:bodyPr vert="horz" wrap="square" lIns="0" tIns="0" rIns="0" bIns="0" rtlCol="0" anchor="b" anchorCtr="0">
            <a:normAutofit/>
          </a:bodyPr>
          <a:lstStyle>
            <a:lvl1pPr>
              <a:defRPr lang="en-US" sz="6400" dirty="0"/>
            </a:lvl1pPr>
          </a:lstStyle>
          <a:p>
            <a:pPr lvl="0">
              <a:lnSpc>
                <a:spcPct val="100000"/>
              </a:lnSpc>
            </a:pPr>
            <a:r>
              <a:rPr lang="en-US"/>
              <a:t>Click to edit Master title style</a:t>
            </a:r>
            <a:endParaRPr lang="en-US" dirty="0"/>
          </a:p>
        </p:txBody>
      </p:sp>
      <p:sp>
        <p:nvSpPr>
          <p:cNvPr id="4" name="Date Placeholder 3">
            <a:extLst>
              <a:ext uri="{FF2B5EF4-FFF2-40B4-BE49-F238E27FC236}">
                <a16:creationId xmlns:a16="http://schemas.microsoft.com/office/drawing/2014/main" id="{56403DDF-462A-45CE-931B-010AB4F73C3F}"/>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39E10702-2ACF-4768-9E91-8CB87B89594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8DFA722-391E-4FCF-8E15-0D7E2EC02B63}"/>
              </a:ext>
            </a:extLst>
          </p:cNvPr>
          <p:cNvSpPr>
            <a:spLocks noGrp="1"/>
          </p:cNvSpPr>
          <p:nvPr>
            <p:ph type="sldNum" sz="quarter" idx="12"/>
          </p:nvPr>
        </p:nvSpPr>
        <p:spPr/>
        <p:txBody>
          <a:bodyPr/>
          <a:lstStyle/>
          <a:p>
            <a:fld id="{DBA1B0FB-D917-4C8C-928F-313BD683BF39}" type="slidenum">
              <a:rPr lang="en-US" smtClean="0"/>
              <a:pPr/>
              <a:t>‹#›</a:t>
            </a:fld>
            <a:endParaRPr lang="en-US" dirty="0"/>
          </a:p>
        </p:txBody>
      </p:sp>
      <p:sp>
        <p:nvSpPr>
          <p:cNvPr id="3" name="Text Placeholder 2">
            <a:extLst>
              <a:ext uri="{FF2B5EF4-FFF2-40B4-BE49-F238E27FC236}">
                <a16:creationId xmlns:a16="http://schemas.microsoft.com/office/drawing/2014/main" id="{76EEA752-36DA-440B-8747-0EB2914080EE}"/>
              </a:ext>
            </a:extLst>
          </p:cNvPr>
          <p:cNvSpPr>
            <a:spLocks noGrp="1"/>
          </p:cNvSpPr>
          <p:nvPr>
            <p:ph type="body" idx="1"/>
          </p:nvPr>
        </p:nvSpPr>
        <p:spPr>
          <a:xfrm>
            <a:off x="566271" y="3629772"/>
            <a:ext cx="11074866" cy="2678953"/>
          </a:xfrm>
        </p:spPr>
        <p:txBody>
          <a:bodyPr>
            <a:normAutofit/>
          </a:bodyPr>
          <a:lstStyle>
            <a:lvl1pPr marL="0" indent="0">
              <a:lnSpc>
                <a:spcPct val="110000"/>
              </a:lnSpc>
              <a:spcBef>
                <a:spcPts val="0"/>
              </a:spcBef>
              <a:buNone/>
              <a:defRPr sz="2400">
                <a:solidFill>
                  <a:schemeClr val="tx1">
                    <a:alpha val="8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1" name="Freeform: Shape 40">
            <a:extLst>
              <a:ext uri="{FF2B5EF4-FFF2-40B4-BE49-F238E27FC236}">
                <a16:creationId xmlns:a16="http://schemas.microsoft.com/office/drawing/2014/main" id="{0BCC02B0-8581-4752-B7BC-3CE1EF17B9F7}"/>
              </a:ext>
            </a:extLst>
          </p:cNvPr>
          <p:cNvSpPr>
            <a:spLocks noChangeAspect="1"/>
          </p:cNvSpPr>
          <p:nvPr/>
        </p:nvSpPr>
        <p:spPr>
          <a:xfrm rot="18900000">
            <a:off x="11209132" y="4448189"/>
            <a:ext cx="999200" cy="1262947"/>
          </a:xfrm>
          <a:custGeom>
            <a:avLst/>
            <a:gdLst>
              <a:gd name="connsiteX0" fmla="*/ 540000 w 999200"/>
              <a:gd name="connsiteY0" fmla="*/ 0 h 1262947"/>
              <a:gd name="connsiteX1" fmla="*/ 999200 w 999200"/>
              <a:gd name="connsiteY1" fmla="*/ 815317 h 1262947"/>
              <a:gd name="connsiteX2" fmla="*/ 552185 w 999200"/>
              <a:gd name="connsiteY2" fmla="*/ 1262333 h 1262947"/>
              <a:gd name="connsiteX3" fmla="*/ 540000 w 999200"/>
              <a:gd name="connsiteY3" fmla="*/ 1262947 h 1262947"/>
              <a:gd name="connsiteX4" fmla="*/ 0 w 999200"/>
              <a:gd name="connsiteY4" fmla="*/ 992947 h 1262947"/>
              <a:gd name="connsiteX5" fmla="*/ 10971 w 999200"/>
              <a:gd name="connsiteY5" fmla="*/ 938533 h 1262947"/>
              <a:gd name="connsiteX6" fmla="*/ 15626 w 999200"/>
              <a:gd name="connsiteY6" fmla="*/ 931034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9200" h="1262947">
                <a:moveTo>
                  <a:pt x="540000" y="0"/>
                </a:moveTo>
                <a:lnTo>
                  <a:pt x="999200" y="815317"/>
                </a:lnTo>
                <a:lnTo>
                  <a:pt x="552185" y="1262333"/>
                </a:lnTo>
                <a:lnTo>
                  <a:pt x="540000" y="1262947"/>
                </a:lnTo>
                <a:cubicBezTo>
                  <a:pt x="241766" y="1262947"/>
                  <a:pt x="0" y="1142064"/>
                  <a:pt x="0" y="992947"/>
                </a:cubicBezTo>
                <a:cubicBezTo>
                  <a:pt x="0" y="974307"/>
                  <a:pt x="3778" y="956109"/>
                  <a:pt x="10971" y="938533"/>
                </a:cubicBezTo>
                <a:lnTo>
                  <a:pt x="15626" y="931034"/>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10200000" scaled="0"/>
          </a:gradFill>
          <a:ln>
            <a:noFill/>
          </a:ln>
          <a:effectLst>
            <a:innerShdw blurRad="254000" dist="101600" dir="42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3" name="Freeform: Shape 42">
            <a:extLst>
              <a:ext uri="{FF2B5EF4-FFF2-40B4-BE49-F238E27FC236}">
                <a16:creationId xmlns:a16="http://schemas.microsoft.com/office/drawing/2014/main" id="{EA0FF4DB-8180-4D26-AEAE-7ECDB670F71D}"/>
              </a:ext>
            </a:extLst>
          </p:cNvPr>
          <p:cNvSpPr/>
          <p:nvPr/>
        </p:nvSpPr>
        <p:spPr>
          <a:xfrm rot="2700000">
            <a:off x="11686937" y="4853516"/>
            <a:ext cx="540000" cy="978284"/>
          </a:xfrm>
          <a:custGeom>
            <a:avLst/>
            <a:gdLst>
              <a:gd name="connsiteX0" fmla="*/ 113288 w 540000"/>
              <a:gd name="connsiteY0" fmla="*/ 0 h 978284"/>
              <a:gd name="connsiteX1" fmla="*/ 539386 w 540000"/>
              <a:gd name="connsiteY1" fmla="*/ 426099 h 978284"/>
              <a:gd name="connsiteX2" fmla="*/ 540000 w 540000"/>
              <a:gd name="connsiteY2" fmla="*/ 438284 h 978284"/>
              <a:gd name="connsiteX3" fmla="*/ 270000 w 540000"/>
              <a:gd name="connsiteY3" fmla="*/ 978284 h 978284"/>
              <a:gd name="connsiteX4" fmla="*/ 0 w 540000"/>
              <a:gd name="connsiteY4" fmla="*/ 438284 h 978284"/>
              <a:gd name="connsiteX5" fmla="*/ 79081 w 540000"/>
              <a:gd name="connsiteY5" fmla="*/ 56446 h 9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000" h="978284">
                <a:moveTo>
                  <a:pt x="113288" y="0"/>
                </a:moveTo>
                <a:lnTo>
                  <a:pt x="539386" y="426099"/>
                </a:lnTo>
                <a:lnTo>
                  <a:pt x="540000" y="438284"/>
                </a:lnTo>
                <a:cubicBezTo>
                  <a:pt x="540000" y="736518"/>
                  <a:pt x="419117" y="978284"/>
                  <a:pt x="270000" y="978284"/>
                </a:cubicBezTo>
                <a:cubicBezTo>
                  <a:pt x="120883" y="978284"/>
                  <a:pt x="0" y="736518"/>
                  <a:pt x="0" y="438284"/>
                </a:cubicBezTo>
                <a:cubicBezTo>
                  <a:pt x="0" y="289167"/>
                  <a:pt x="30220" y="154167"/>
                  <a:pt x="79081" y="56446"/>
                </a:cubicBezTo>
                <a:close/>
              </a:path>
            </a:pathLst>
          </a:cu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47365650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3" name="Group 12">
            <a:extLst>
              <a:ext uri="{FF2B5EF4-FFF2-40B4-BE49-F238E27FC236}">
                <a16:creationId xmlns:a16="http://schemas.microsoft.com/office/drawing/2014/main" id="{168347B7-45FA-4A01-924D-DC385B720B3E}"/>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p:nvPr>
        </p:nvSpPr>
        <p:spPr>
          <a:xfrm>
            <a:off x="550863" y="549275"/>
            <a:ext cx="11090274" cy="1332000"/>
          </a:xfrm>
        </p:spPr>
        <p:txBody>
          <a:bodyPr/>
          <a:lstStyle>
            <a:lvl1pPr>
              <a:lnSpc>
                <a:spcPct val="10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p:nvPr>
        </p:nvSpPr>
        <p:spPr>
          <a:xfrm>
            <a:off x="550862"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8362910-87AA-4E67-992D-8D4822FD89FE}"/>
              </a:ext>
            </a:extLst>
          </p:cNvPr>
          <p:cNvSpPr>
            <a:spLocks noGrp="1"/>
          </p:cNvSpPr>
          <p:nvPr>
            <p:ph sz="half" idx="2"/>
          </p:nvPr>
        </p:nvSpPr>
        <p:spPr>
          <a:xfrm>
            <a:off x="6205538"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415189351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FD65A50E-2F73-4426-8586-9731AFA2D2E0}"/>
              </a:ext>
            </a:extLst>
          </p:cNvPr>
          <p:cNvSpPr>
            <a:spLocks noChangeAspect="1"/>
          </p:cNvSpPr>
          <p:nvPr/>
        </p:nvSpPr>
        <p:spPr>
          <a:xfrm>
            <a:off x="11091612" y="58934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EB89C080-4102-49AE-BDA9-59A4A67E2486}"/>
              </a:ext>
            </a:extLst>
          </p:cNvPr>
          <p:cNvSpPr/>
          <p:nvPr/>
        </p:nvSpPr>
        <p:spPr>
          <a:xfrm>
            <a:off x="11451612" y="5827878"/>
            <a:ext cx="379049" cy="360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E62014-F04C-495A-964E-6B888D49CDE9}"/>
              </a:ext>
            </a:extLst>
          </p:cNvPr>
          <p:cNvSpPr>
            <a:spLocks noGrp="1"/>
          </p:cNvSpPr>
          <p:nvPr>
            <p:ph type="title"/>
          </p:nvPr>
        </p:nvSpPr>
        <p:spPr>
          <a:xfrm>
            <a:off x="550862" y="549275"/>
            <a:ext cx="11097551" cy="1332000"/>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555DF027-E633-44EE-ACA0-C205930AA93E}"/>
              </a:ext>
            </a:extLst>
          </p:cNvPr>
          <p:cNvSpPr>
            <a:spLocks noGrp="1"/>
          </p:cNvSpPr>
          <p:nvPr>
            <p:ph type="body" idx="1"/>
          </p:nvPr>
        </p:nvSpPr>
        <p:spPr>
          <a:xfrm>
            <a:off x="550864" y="1881275"/>
            <a:ext cx="5437186" cy="535354"/>
          </a:xfrm>
        </p:spPr>
        <p:txBody>
          <a:bodyPr anchor="b">
            <a:normAutofit/>
          </a:bodyPr>
          <a:lstStyle>
            <a:lvl1pPr marL="0" indent="0">
              <a:buNone/>
              <a:defRPr sz="14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A4F363-FEEF-4CD2-A18E-17AE8D485171}"/>
              </a:ext>
            </a:extLst>
          </p:cNvPr>
          <p:cNvSpPr>
            <a:spLocks noGrp="1"/>
          </p:cNvSpPr>
          <p:nvPr>
            <p:ph sz="half" idx="2"/>
          </p:nvPr>
        </p:nvSpPr>
        <p:spPr>
          <a:xfrm>
            <a:off x="550863" y="2577270"/>
            <a:ext cx="5429114"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4E50F8C-4D64-40FD-AE8C-6A1F3C2A84ED}"/>
              </a:ext>
            </a:extLst>
          </p:cNvPr>
          <p:cNvSpPr>
            <a:spLocks noGrp="1"/>
          </p:cNvSpPr>
          <p:nvPr>
            <p:ph type="body" sz="quarter" idx="3"/>
          </p:nvPr>
        </p:nvSpPr>
        <p:spPr>
          <a:xfrm>
            <a:off x="6212024" y="1881275"/>
            <a:ext cx="5436392" cy="535354"/>
          </a:xfrm>
        </p:spPr>
        <p:txBody>
          <a:bodyPr vert="horz" wrap="square" lIns="0" tIns="0" rIns="0" bIns="0" rtlCol="0" anchor="b">
            <a:normAutofit/>
          </a:bodyPr>
          <a:lstStyle>
            <a:lvl1pPr>
              <a:defRPr lang="en-US" sz="1400" b="0" cap="all" spc="200" baseline="0" dirty="0">
                <a:solidFill>
                  <a:schemeClr val="tx1"/>
                </a:solidFill>
              </a:defRPr>
            </a:lvl1pPr>
          </a:lstStyle>
          <a:p>
            <a:pPr marL="0" lvl="0" indent="0">
              <a:buNone/>
            </a:pPr>
            <a:r>
              <a:rPr lang="en-US"/>
              <a:t>Click to edit Master text styles</a:t>
            </a:r>
          </a:p>
        </p:txBody>
      </p:sp>
      <p:sp>
        <p:nvSpPr>
          <p:cNvPr id="6" name="Content Placeholder 5">
            <a:extLst>
              <a:ext uri="{FF2B5EF4-FFF2-40B4-BE49-F238E27FC236}">
                <a16:creationId xmlns:a16="http://schemas.microsoft.com/office/drawing/2014/main" id="{A7AC943E-DB2B-40E0-907F-8EA1404791DE}"/>
              </a:ext>
            </a:extLst>
          </p:cNvPr>
          <p:cNvSpPr>
            <a:spLocks noGrp="1"/>
          </p:cNvSpPr>
          <p:nvPr>
            <p:ph sz="quarter" idx="4"/>
          </p:nvPr>
        </p:nvSpPr>
        <p:spPr>
          <a:xfrm>
            <a:off x="6212023" y="2577270"/>
            <a:ext cx="5436391"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CDCD5B-3F26-4AFA-8BD4-E5D8DD2AF494}"/>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3D10D1EE-83A0-4FB5-9B25-8A73DE891A8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3031C35-2E5B-491D-85ED-DB42A4FE1623}"/>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47285868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2053C-0E9C-4159-B7C9-6AB74343918D}"/>
              </a:ext>
            </a:extLst>
          </p:cNvPr>
          <p:cNvSpPr>
            <a:spLocks noGrp="1"/>
          </p:cNvSpPr>
          <p:nvPr>
            <p:ph type="title"/>
          </p:nvPr>
        </p:nvSpPr>
        <p:spPr>
          <a:xfrm>
            <a:off x="3359149" y="550799"/>
            <a:ext cx="8283313" cy="5542025"/>
          </a:xfrm>
        </p:spPr>
        <p:txBody>
          <a:bodyPr vert="horz" wrap="square" lIns="0" tIns="0" rIns="0" bIns="0" rtlCol="0" anchor="ctr" anchorCtr="0">
            <a:normAutofit/>
          </a:bodyPr>
          <a:lstStyle>
            <a:lvl1pPr>
              <a:defRPr lang="en-US" dirty="0"/>
            </a:lvl1pPr>
          </a:lstStyle>
          <a:p>
            <a:pPr lvl="0">
              <a:lnSpc>
                <a:spcPct val="100000"/>
              </a:lnSpc>
            </a:pPr>
            <a:r>
              <a:rPr lang="en-US"/>
              <a:t>Click to edit Master title style</a:t>
            </a:r>
            <a:endParaRPr lang="en-US" dirty="0"/>
          </a:p>
        </p:txBody>
      </p:sp>
      <p:sp>
        <p:nvSpPr>
          <p:cNvPr id="3" name="Date Placeholder 2">
            <a:extLst>
              <a:ext uri="{FF2B5EF4-FFF2-40B4-BE49-F238E27FC236}">
                <a16:creationId xmlns:a16="http://schemas.microsoft.com/office/drawing/2014/main" id="{D4F51F65-E111-4656-83BE-CFCDE2DD6CD6}"/>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F9FF82CB-2D17-4918-821E-485475CF243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B66589D-A056-4817-AE15-39D87FE13169}"/>
              </a:ext>
            </a:extLst>
          </p:cNvPr>
          <p:cNvSpPr>
            <a:spLocks noGrp="1"/>
          </p:cNvSpPr>
          <p:nvPr>
            <p:ph type="sldNum" sz="quarter" idx="12"/>
          </p:nvPr>
        </p:nvSpPr>
        <p:spPr/>
        <p:txBody>
          <a:bodyPr/>
          <a:lstStyle/>
          <a:p>
            <a:fld id="{DBA1B0FB-D917-4C8C-928F-313BD683BF39}" type="slidenum">
              <a:rPr lang="en-US" smtClean="0"/>
              <a:pPr/>
              <a:t>‹#›</a:t>
            </a:fld>
            <a:endParaRPr lang="en-US" dirty="0"/>
          </a:p>
        </p:txBody>
      </p:sp>
      <p:sp>
        <p:nvSpPr>
          <p:cNvPr id="39" name="Freeform: Shape 38">
            <a:extLst>
              <a:ext uri="{FF2B5EF4-FFF2-40B4-BE49-F238E27FC236}">
                <a16:creationId xmlns:a16="http://schemas.microsoft.com/office/drawing/2014/main" id="{E489F067-39E1-4757-BC11-6169A343F2E1}"/>
              </a:ext>
            </a:extLst>
          </p:cNvPr>
          <p:cNvSpPr>
            <a:spLocks noChangeAspect="1"/>
          </p:cNvSpPr>
          <p:nvPr/>
        </p:nvSpPr>
        <p:spPr>
          <a:xfrm rot="18900000" flipV="1">
            <a:off x="-410727"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DD231011-607F-42F1-B2D9-2BA8E91CC6AF}"/>
              </a:ext>
            </a:extLst>
          </p:cNvPr>
          <p:cNvSpPr>
            <a:spLocks noChangeAspect="1"/>
          </p:cNvSpPr>
          <p:nvPr/>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Oval 23">
            <a:extLst>
              <a:ext uri="{FF2B5EF4-FFF2-40B4-BE49-F238E27FC236}">
                <a16:creationId xmlns:a16="http://schemas.microsoft.com/office/drawing/2014/main" id="{EC472EFA-56B5-4A41-8D4B-E9F37727F34D}"/>
              </a:ext>
            </a:extLst>
          </p:cNvPr>
          <p:cNvSpPr/>
          <p:nvPr/>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2" name="Oval 41">
            <a:extLst>
              <a:ext uri="{FF2B5EF4-FFF2-40B4-BE49-F238E27FC236}">
                <a16:creationId xmlns:a16="http://schemas.microsoft.com/office/drawing/2014/main" id="{33781B6C-21AD-489D-A3CB-522BB2AC543F}"/>
              </a:ext>
            </a:extLst>
          </p:cNvPr>
          <p:cNvSpPr>
            <a:spLocks noChangeAspect="1"/>
          </p:cNvSpPr>
          <p:nvPr/>
        </p:nvSpPr>
        <p:spPr>
          <a:xfrm>
            <a:off x="1780661"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51" name="Group 50">
            <a:extLst>
              <a:ext uri="{FF2B5EF4-FFF2-40B4-BE49-F238E27FC236}">
                <a16:creationId xmlns:a16="http://schemas.microsoft.com/office/drawing/2014/main" id="{01AD5B80-530E-44CD-8D4A-2796FB214CBF}"/>
              </a:ext>
            </a:extLst>
          </p:cNvPr>
          <p:cNvGrpSpPr/>
          <p:nvPr/>
        </p:nvGrpSpPr>
        <p:grpSpPr>
          <a:xfrm>
            <a:off x="623181" y="1514007"/>
            <a:ext cx="734257" cy="760506"/>
            <a:chOff x="5243759" y="1363788"/>
            <a:chExt cx="734257" cy="760506"/>
          </a:xfrm>
        </p:grpSpPr>
        <p:sp>
          <p:nvSpPr>
            <p:cNvPr id="52" name="Freeform 5">
              <a:extLst>
                <a:ext uri="{FF2B5EF4-FFF2-40B4-BE49-F238E27FC236}">
                  <a16:creationId xmlns:a16="http://schemas.microsoft.com/office/drawing/2014/main" id="{2F746AA8-9050-4515-9B17-BC850368529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3" name="Freeform 6">
              <a:extLst>
                <a:ext uri="{FF2B5EF4-FFF2-40B4-BE49-F238E27FC236}">
                  <a16:creationId xmlns:a16="http://schemas.microsoft.com/office/drawing/2014/main" id="{23EC1AC3-1698-46D5-80B7-F22F15E1A5E4}"/>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Freeform 8">
              <a:extLst>
                <a:ext uri="{FF2B5EF4-FFF2-40B4-BE49-F238E27FC236}">
                  <a16:creationId xmlns:a16="http://schemas.microsoft.com/office/drawing/2014/main" id="{73766156-553C-46EB-93FA-4F37CC0FF5CF}"/>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245413379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131167432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78B0BE9-88B0-4883-9BA9-CD594C400EC1}"/>
              </a:ext>
            </a:extLst>
          </p:cNvPr>
          <p:cNvGrpSpPr/>
          <p:nvPr/>
        </p:nvGrpSpPr>
        <p:grpSpPr>
          <a:xfrm>
            <a:off x="4949631" y="5111861"/>
            <a:ext cx="1262947" cy="1335600"/>
            <a:chOff x="2678417" y="2427951"/>
            <a:chExt cx="1262947" cy="1335600"/>
          </a:xfrm>
        </p:grpSpPr>
        <p:sp>
          <p:nvSpPr>
            <p:cNvPr id="11" name="Freeform: Shape 10">
              <a:extLst>
                <a:ext uri="{FF2B5EF4-FFF2-40B4-BE49-F238E27FC236}">
                  <a16:creationId xmlns:a16="http://schemas.microsoft.com/office/drawing/2014/main" id="{C59DCBF3-7AFA-4CD1-A918-BC6DDE674E6C}"/>
                </a:ext>
              </a:extLst>
            </p:cNvPr>
            <p:cNvSpPr>
              <a:spLocks noChangeAspect="1"/>
            </p:cNvSpPr>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06964A02-96E1-4654-9187-DDDE7409F75B}"/>
                </a:ext>
              </a:extLst>
            </p:cNvPr>
            <p:cNvSpPr/>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BF3FF76C-A012-4CDA-8AE7-E9413955716A}"/>
              </a:ext>
            </a:extLst>
          </p:cNvPr>
          <p:cNvSpPr>
            <a:spLocks noGrp="1"/>
          </p:cNvSpPr>
          <p:nvPr>
            <p:ph type="title"/>
          </p:nvPr>
        </p:nvSpPr>
        <p:spPr>
          <a:xfrm>
            <a:off x="550863" y="549275"/>
            <a:ext cx="11090275" cy="984885"/>
          </a:xfrm>
        </p:spPr>
        <p:txBody>
          <a:bodyPr anchor="t">
            <a:normAutofit/>
          </a:bodyPr>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1A4C80-DC38-4641-924F-90D6078CF592}"/>
              </a:ext>
            </a:extLst>
          </p:cNvPr>
          <p:cNvSpPr>
            <a:spLocks noGrp="1"/>
          </p:cNvSpPr>
          <p:nvPr>
            <p:ph idx="1"/>
          </p:nvPr>
        </p:nvSpPr>
        <p:spPr>
          <a:xfrm>
            <a:off x="4295775" y="1750060"/>
            <a:ext cx="7345362" cy="4342765"/>
          </a:xfrm>
        </p:spPr>
        <p:txBody>
          <a:bodyPr>
            <a:norm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2C42771-D3A7-4072-85DC-B7C5E530E8AA}"/>
              </a:ext>
            </a:extLst>
          </p:cNvPr>
          <p:cNvSpPr>
            <a:spLocks noGrp="1"/>
          </p:cNvSpPr>
          <p:nvPr>
            <p:ph type="body" sz="half" idx="2"/>
          </p:nvPr>
        </p:nvSpPr>
        <p:spPr>
          <a:xfrm>
            <a:off x="550863" y="1750060"/>
            <a:ext cx="3565525" cy="434276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47AB1-6EB5-4E2C-B4A7-42DC643E9FF9}"/>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5BA9D15F-B6ED-46E1-9840-0B625880EE4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DAEB023-7A5E-4087-B75E-A38A80EE5D01}"/>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84548230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F98F1FBA-F8BB-42CF-8B3E-D19AAFEE96C1}"/>
              </a:ext>
            </a:extLst>
          </p:cNvPr>
          <p:cNvGrpSpPr/>
          <p:nvPr/>
        </p:nvGrpSpPr>
        <p:grpSpPr>
          <a:xfrm>
            <a:off x="334964" y="5115518"/>
            <a:ext cx="734257" cy="760506"/>
            <a:chOff x="5243759" y="1363788"/>
            <a:chExt cx="734257" cy="760506"/>
          </a:xfrm>
        </p:grpSpPr>
        <p:sp>
          <p:nvSpPr>
            <p:cNvPr id="18" name="Freeform 5">
              <a:extLst>
                <a:ext uri="{FF2B5EF4-FFF2-40B4-BE49-F238E27FC236}">
                  <a16:creationId xmlns:a16="http://schemas.microsoft.com/office/drawing/2014/main" id="{60EE09DD-C3DB-4266-BCC3-A765CFFBF37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Freeform 6">
              <a:extLst>
                <a:ext uri="{FF2B5EF4-FFF2-40B4-BE49-F238E27FC236}">
                  <a16:creationId xmlns:a16="http://schemas.microsoft.com/office/drawing/2014/main" id="{5F301FE0-96DC-4EFB-BBEE-AED762C337C9}"/>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Freeform 8">
              <a:extLst>
                <a:ext uri="{FF2B5EF4-FFF2-40B4-BE49-F238E27FC236}">
                  <a16:creationId xmlns:a16="http://schemas.microsoft.com/office/drawing/2014/main" id="{3BEAD276-8850-4C0C-9777-8537000D522A}"/>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E5EE0A0-B07E-479B-9684-4BD09FA4376C}"/>
              </a:ext>
            </a:extLst>
          </p:cNvPr>
          <p:cNvSpPr>
            <a:spLocks noGrp="1"/>
          </p:cNvSpPr>
          <p:nvPr>
            <p:ph type="title"/>
          </p:nvPr>
        </p:nvSpPr>
        <p:spPr>
          <a:xfrm>
            <a:off x="550863" y="575409"/>
            <a:ext cx="4500562" cy="984885"/>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Picture Placeholder 2">
            <a:extLst>
              <a:ext uri="{FF2B5EF4-FFF2-40B4-BE49-F238E27FC236}">
                <a16:creationId xmlns:a16="http://schemas.microsoft.com/office/drawing/2014/main" id="{C11893A9-3462-4F51-83AE-5D2F124B985F}"/>
              </a:ext>
            </a:extLst>
          </p:cNvPr>
          <p:cNvSpPr>
            <a:spLocks noGrp="1"/>
          </p:cNvSpPr>
          <p:nvPr>
            <p:ph type="pic" idx="1"/>
          </p:nvPr>
        </p:nvSpPr>
        <p:spPr>
          <a:xfrm>
            <a:off x="5267324" y="575409"/>
            <a:ext cx="6373813" cy="5733316"/>
          </a:xfrm>
        </p:spPr>
        <p:txBody>
          <a:bodyPr>
            <a:normAutofit/>
          </a:bodyPr>
          <a:lstStyle>
            <a:lvl1pPr marL="0" indent="0">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BA9240C-79C0-4A88-A476-725DE1B9C28F}"/>
              </a:ext>
            </a:extLst>
          </p:cNvPr>
          <p:cNvSpPr>
            <a:spLocks noGrp="1"/>
          </p:cNvSpPr>
          <p:nvPr>
            <p:ph type="body" sz="half" idx="2"/>
          </p:nvPr>
        </p:nvSpPr>
        <p:spPr>
          <a:xfrm>
            <a:off x="550863" y="1776195"/>
            <a:ext cx="4500562" cy="4532530"/>
          </a:xfrm>
        </p:spPr>
        <p:txBody>
          <a:bodyPr anchor="t" anchorCtr="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7D2D6F-49E8-4217-A908-2D9E43583589}"/>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591C4440-6B8D-4A24-A807-8B1302A3DFA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6CFE189-E20B-4108-B290-244424336512}"/>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17667354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79361-B9A1-48F2-9473-23DE30E2D151}"/>
              </a:ext>
            </a:extLst>
          </p:cNvPr>
          <p:cNvSpPr>
            <a:spLocks noGrp="1"/>
          </p:cNvSpPr>
          <p:nvPr>
            <p:ph type="title"/>
          </p:nvPr>
        </p:nvSpPr>
        <p:spPr>
          <a:xfrm>
            <a:off x="550862" y="503906"/>
            <a:ext cx="11090275" cy="1333057"/>
          </a:xfrm>
        </p:spPr>
        <p:txBody>
          <a:bodyPr vert="horz" wrap="square" lIns="0" tIns="0" rIns="0" bIns="0" rtlCol="0" anchor="t" anchorCtr="0">
            <a:normAutofit/>
          </a:bodyPr>
          <a:lstStyle>
            <a:lvl1pPr>
              <a:defRPr lang="en-US" dirty="0"/>
            </a:lvl1pPr>
          </a:lstStyle>
          <a:p>
            <a:pPr lvl="0"/>
            <a:r>
              <a:rPr lang="en-US"/>
              <a:t>Click to edit Master title style</a:t>
            </a:r>
            <a:endParaRPr lang="en-US" dirty="0"/>
          </a:p>
        </p:txBody>
      </p:sp>
      <p:sp>
        <p:nvSpPr>
          <p:cNvPr id="3" name="Vertical Text Placeholder 2">
            <a:extLst>
              <a:ext uri="{FF2B5EF4-FFF2-40B4-BE49-F238E27FC236}">
                <a16:creationId xmlns:a16="http://schemas.microsoft.com/office/drawing/2014/main" id="{FD986779-C2F3-447D-85F7-F6B0E2C97D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61572-1A59-4E3B-BA65-3329E9468C69}"/>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FEF84F1-99FE-4F0B-9E76-F581C2C1B6D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7B2D769-16B1-43C4-BF14-3175533511ED}"/>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07730566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56583A-514F-4632-820D-E7EE236A465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73CBBB-7DDC-4437-8C7D-22A1C35202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C69EBF-DA20-4024-8006-B158D571E08E}"/>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DBAC8B9-14B5-4DF1-994D-AB47DB3BA0C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7876582-5F9B-4F5E-AAD5-D608CB68EA3D}"/>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74893063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2053C-0E9C-4159-B7C9-6AB74343918D}"/>
              </a:ext>
            </a:extLst>
          </p:cNvPr>
          <p:cNvSpPr>
            <a:spLocks noGrp="1"/>
          </p:cNvSpPr>
          <p:nvPr>
            <p:ph type="title" hasCustomPrompt="1"/>
          </p:nvPr>
        </p:nvSpPr>
        <p:spPr>
          <a:xfrm>
            <a:off x="7018020" y="662937"/>
            <a:ext cx="4624442" cy="5542025"/>
          </a:xfrm>
        </p:spPr>
        <p:txBody>
          <a:bodyPr vert="horz" wrap="square" lIns="0" tIns="0" rIns="0" bIns="0" rtlCol="0" anchor="ctr" anchorCtr="0">
            <a:normAutofit/>
          </a:bodyPr>
          <a:lstStyle>
            <a:lvl1pPr>
              <a:defRPr lang="en-US" dirty="0"/>
            </a:lvl1pPr>
          </a:lstStyle>
          <a:p>
            <a:pPr lvl="0">
              <a:lnSpc>
                <a:spcPct val="100000"/>
              </a:lnSpc>
            </a:pPr>
            <a:r>
              <a:rPr lang="en-US" dirty="0"/>
              <a:t>Click to add title</a:t>
            </a:r>
          </a:p>
        </p:txBody>
      </p:sp>
      <p:sp>
        <p:nvSpPr>
          <p:cNvPr id="9" name="Picture Placeholder 8">
            <a:extLst>
              <a:ext uri="{FF2B5EF4-FFF2-40B4-BE49-F238E27FC236}">
                <a16:creationId xmlns:a16="http://schemas.microsoft.com/office/drawing/2014/main" id="{988CE9D0-E6DB-A38D-ED84-A53D0493E6D0}"/>
              </a:ext>
            </a:extLst>
          </p:cNvPr>
          <p:cNvSpPr>
            <a:spLocks noGrp="1"/>
          </p:cNvSpPr>
          <p:nvPr>
            <p:ph type="pic" sz="quarter" idx="13" hasCustomPrompt="1"/>
          </p:nvPr>
        </p:nvSpPr>
        <p:spPr>
          <a:xfrm>
            <a:off x="0" y="0"/>
            <a:ext cx="6267450" cy="6858000"/>
          </a:xfrm>
        </p:spPr>
        <p:txBody>
          <a:bodyPr>
            <a:normAutofit/>
          </a:bodyPr>
          <a:lstStyle>
            <a:lvl1pPr marL="0" indent="0" algn="ctr">
              <a:buNone/>
              <a:defRPr sz="2000"/>
            </a:lvl1pPr>
          </a:lstStyle>
          <a:p>
            <a:r>
              <a:rPr lang="en-US" dirty="0"/>
              <a:t>Click icon to insert picture</a:t>
            </a:r>
          </a:p>
        </p:txBody>
      </p:sp>
    </p:spTree>
    <p:extLst>
      <p:ext uri="{BB962C8B-B14F-4D97-AF65-F5344CB8AC3E}">
        <p14:creationId xmlns:p14="http://schemas.microsoft.com/office/powerpoint/2010/main" val="4119266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43C4A872-A473-BFD2-150E-387250C2B4DA}"/>
              </a:ext>
              <a:ext uri="{C183D7F6-B498-43B3-948B-1728B52AA6E4}">
                <adec:decorative xmlns:adec="http://schemas.microsoft.com/office/drawing/2017/decorative" val="1"/>
              </a:ext>
            </a:extLst>
          </p:cNvPr>
          <p:cNvGrpSpPr/>
          <p:nvPr userDrawn="1"/>
        </p:nvGrpSpPr>
        <p:grpSpPr>
          <a:xfrm>
            <a:off x="613998" y="5334748"/>
            <a:ext cx="678135" cy="990000"/>
            <a:chOff x="10490969" y="1448827"/>
            <a:chExt cx="678135" cy="990000"/>
          </a:xfrm>
        </p:grpSpPr>
        <p:sp>
          <p:nvSpPr>
            <p:cNvPr id="24" name="Freeform: Shape 23">
              <a:extLst>
                <a:ext uri="{FF2B5EF4-FFF2-40B4-BE49-F238E27FC236}">
                  <a16:creationId xmlns:a16="http://schemas.microsoft.com/office/drawing/2014/main" id="{C5C8D53B-A579-BCFA-58E8-C386DABC92CD}"/>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Oval 24">
              <a:extLst>
                <a:ext uri="{FF2B5EF4-FFF2-40B4-BE49-F238E27FC236}">
                  <a16:creationId xmlns:a16="http://schemas.microsoft.com/office/drawing/2014/main" id="{23A34CAC-4A03-ADDB-E97F-8675E68FC0B3}"/>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6" name="Oval 25">
              <a:extLst>
                <a:ext uri="{FF2B5EF4-FFF2-40B4-BE49-F238E27FC236}">
                  <a16:creationId xmlns:a16="http://schemas.microsoft.com/office/drawing/2014/main" id="{0C733506-2F0D-8F31-52D1-5244F04A706B}"/>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Freeform: Shape 26">
              <a:extLst>
                <a:ext uri="{FF2B5EF4-FFF2-40B4-BE49-F238E27FC236}">
                  <a16:creationId xmlns:a16="http://schemas.microsoft.com/office/drawing/2014/main" id="{29356E3D-E14C-9C43-7CE4-A7156B1E10DB}"/>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0" name="Title 19">
            <a:extLst>
              <a:ext uri="{FF2B5EF4-FFF2-40B4-BE49-F238E27FC236}">
                <a16:creationId xmlns:a16="http://schemas.microsoft.com/office/drawing/2014/main" id="{85C652DA-55F6-9691-4254-344E0A4E9ABF}"/>
              </a:ext>
            </a:extLst>
          </p:cNvPr>
          <p:cNvSpPr>
            <a:spLocks noGrp="1"/>
          </p:cNvSpPr>
          <p:nvPr>
            <p:ph type="title" hasCustomPrompt="1"/>
          </p:nvPr>
        </p:nvSpPr>
        <p:spPr>
          <a:xfrm>
            <a:off x="550863" y="483924"/>
            <a:ext cx="11090275" cy="1684059"/>
          </a:xfrm>
        </p:spPr>
        <p:txBody>
          <a:bodyPr anchor="b">
            <a:normAutofit/>
          </a:bodyPr>
          <a:lstStyle>
            <a:lvl1pPr>
              <a:defRPr sz="4000"/>
            </a:lvl1pPr>
          </a:lstStyle>
          <a:p>
            <a:r>
              <a:rPr lang="en-US" dirty="0"/>
              <a:t>Click to add title</a:t>
            </a:r>
          </a:p>
        </p:txBody>
      </p:sp>
      <p:sp>
        <p:nvSpPr>
          <p:cNvPr id="22" name="Content Placeholder 21">
            <a:extLst>
              <a:ext uri="{FF2B5EF4-FFF2-40B4-BE49-F238E27FC236}">
                <a16:creationId xmlns:a16="http://schemas.microsoft.com/office/drawing/2014/main" id="{4DB7AC4F-2818-7F0D-AC6A-736D5F2C7392}"/>
              </a:ext>
            </a:extLst>
          </p:cNvPr>
          <p:cNvSpPr>
            <a:spLocks noGrp="1"/>
          </p:cNvSpPr>
          <p:nvPr>
            <p:ph sz="quarter" idx="13" hasCustomPrompt="1"/>
          </p:nvPr>
        </p:nvSpPr>
        <p:spPr>
          <a:xfrm>
            <a:off x="550863" y="2419350"/>
            <a:ext cx="11090274" cy="3913188"/>
          </a:xfrm>
        </p:spPr>
        <p:txBody>
          <a:bodyPr>
            <a:normAutofit/>
          </a:bodyPr>
          <a:lstStyle>
            <a:lvl1pPr marL="0" indent="0">
              <a:buNone/>
              <a:defRPr sz="18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lstStyle/>
          <a:p>
            <a:fld id="{DBA1B0FB-D917-4C8C-928F-313BD683BF39}" type="slidenum">
              <a:rPr lang="en-US" smtClean="0"/>
              <a:t>‹#›</a:t>
            </a:fld>
            <a:endParaRPr lang="en-US" dirty="0"/>
          </a:p>
        </p:txBody>
      </p:sp>
      <p:grpSp>
        <p:nvGrpSpPr>
          <p:cNvPr id="5" name="Group 4">
            <a:extLst>
              <a:ext uri="{FF2B5EF4-FFF2-40B4-BE49-F238E27FC236}">
                <a16:creationId xmlns:a16="http://schemas.microsoft.com/office/drawing/2014/main" id="{6C61DF04-D7CB-2B19-8BB9-3E90A661973E}"/>
              </a:ext>
              <a:ext uri="{C183D7F6-B498-43B3-948B-1728B52AA6E4}">
                <adec:decorative xmlns:adec="http://schemas.microsoft.com/office/drawing/2017/decorative" val="1"/>
              </a:ext>
            </a:extLst>
          </p:cNvPr>
          <p:cNvGrpSpPr/>
          <p:nvPr userDrawn="1"/>
        </p:nvGrpSpPr>
        <p:grpSpPr>
          <a:xfrm>
            <a:off x="9010824" y="1514007"/>
            <a:ext cx="734257" cy="760506"/>
            <a:chOff x="5243759" y="1363788"/>
            <a:chExt cx="734257" cy="760506"/>
          </a:xfrm>
        </p:grpSpPr>
        <p:sp>
          <p:nvSpPr>
            <p:cNvPr id="6" name="Freeform 5">
              <a:extLst>
                <a:ext uri="{FF2B5EF4-FFF2-40B4-BE49-F238E27FC236}">
                  <a16:creationId xmlns:a16="http://schemas.microsoft.com/office/drawing/2014/main" id="{5DE1CC00-F893-E215-8086-65B6605C5FC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7" name="Freeform 6">
              <a:extLst>
                <a:ext uri="{FF2B5EF4-FFF2-40B4-BE49-F238E27FC236}">
                  <a16:creationId xmlns:a16="http://schemas.microsoft.com/office/drawing/2014/main" id="{6EBF50D9-F9B8-ADB3-8B4A-AF19564EE6EB}"/>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Freeform 8">
              <a:extLst>
                <a:ext uri="{FF2B5EF4-FFF2-40B4-BE49-F238E27FC236}">
                  <a16:creationId xmlns:a16="http://schemas.microsoft.com/office/drawing/2014/main" id="{80BE1060-7183-58F8-EEBF-64135EE82BC5}"/>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11" name="Oval 10">
            <a:extLst>
              <a:ext uri="{FF2B5EF4-FFF2-40B4-BE49-F238E27FC236}">
                <a16:creationId xmlns:a16="http://schemas.microsoft.com/office/drawing/2014/main" id="{E597A3BE-0D13-9033-E3FD-78202DB799C8}"/>
              </a:ext>
              <a:ext uri="{C183D7F6-B498-43B3-948B-1728B52AA6E4}">
                <adec:decorative xmlns:adec="http://schemas.microsoft.com/office/drawing/2017/decorative" val="1"/>
              </a:ext>
            </a:extLst>
          </p:cNvPr>
          <p:cNvSpPr>
            <a:spLocks noChangeAspect="1"/>
          </p:cNvSpPr>
          <p:nvPr userDrawn="1"/>
        </p:nvSpPr>
        <p:spPr>
          <a:xfrm>
            <a:off x="10168304"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2" name="Group 11">
            <a:extLst>
              <a:ext uri="{FF2B5EF4-FFF2-40B4-BE49-F238E27FC236}">
                <a16:creationId xmlns:a16="http://schemas.microsoft.com/office/drawing/2014/main" id="{D8867D9A-3F3B-94C3-244B-0006226AEF73}"/>
              </a:ext>
              <a:ext uri="{C183D7F6-B498-43B3-948B-1728B52AA6E4}">
                <adec:decorative xmlns:adec="http://schemas.microsoft.com/office/drawing/2017/decorative" val="1"/>
              </a:ext>
            </a:extLst>
          </p:cNvPr>
          <p:cNvGrpSpPr/>
          <p:nvPr userDrawn="1"/>
        </p:nvGrpSpPr>
        <p:grpSpPr>
          <a:xfrm flipH="1">
            <a:off x="9063019" y="3199533"/>
            <a:ext cx="3597052" cy="2615018"/>
            <a:chOff x="4541453" y="3199533"/>
            <a:chExt cx="3597052" cy="2615018"/>
          </a:xfrm>
        </p:grpSpPr>
        <p:sp>
          <p:nvSpPr>
            <p:cNvPr id="13" name="Freeform: Shape 38">
              <a:extLst>
                <a:ext uri="{FF2B5EF4-FFF2-40B4-BE49-F238E27FC236}">
                  <a16:creationId xmlns:a16="http://schemas.microsoft.com/office/drawing/2014/main" id="{955FC3D1-6227-A188-CCDB-11D573FD807A}"/>
                </a:ext>
              </a:extLst>
            </p:cNvPr>
            <p:cNvSpPr>
              <a:spLocks noChangeAspect="1"/>
            </p:cNvSpPr>
            <p:nvPr/>
          </p:nvSpPr>
          <p:spPr>
            <a:xfrm rot="18900000" flipV="1">
              <a:off x="4602175"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4" name="Group 13">
              <a:extLst>
                <a:ext uri="{FF2B5EF4-FFF2-40B4-BE49-F238E27FC236}">
                  <a16:creationId xmlns:a16="http://schemas.microsoft.com/office/drawing/2014/main" id="{AE6BE70E-C41E-449D-A48C-4EB6BB7DC20D}"/>
                </a:ext>
              </a:extLst>
            </p:cNvPr>
            <p:cNvGrpSpPr/>
            <p:nvPr/>
          </p:nvGrpSpPr>
          <p:grpSpPr>
            <a:xfrm>
              <a:off x="4541453" y="3199533"/>
              <a:ext cx="3478701" cy="2615018"/>
              <a:chOff x="-481151" y="3199533"/>
              <a:chExt cx="3478701" cy="2615018"/>
            </a:xfrm>
          </p:grpSpPr>
          <p:sp>
            <p:nvSpPr>
              <p:cNvPr id="15" name="Freeform: Shape 32">
                <a:extLst>
                  <a:ext uri="{FF2B5EF4-FFF2-40B4-BE49-F238E27FC236}">
                    <a16:creationId xmlns:a16="http://schemas.microsoft.com/office/drawing/2014/main" id="{B7C0B12B-49BE-7855-18FB-8583C8DD9617}"/>
                  </a:ext>
                </a:extLst>
              </p:cNvPr>
              <p:cNvSpPr>
                <a:spLocks noChangeAspect="1"/>
              </p:cNvSpPr>
              <p:nvPr userDrawn="1"/>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Oval 15">
                <a:extLst>
                  <a:ext uri="{FF2B5EF4-FFF2-40B4-BE49-F238E27FC236}">
                    <a16:creationId xmlns:a16="http://schemas.microsoft.com/office/drawing/2014/main" id="{67C78A37-D378-70D3-D6E3-AB9400EB583E}"/>
                  </a:ext>
                </a:extLst>
              </p:cNvPr>
              <p:cNvSpPr/>
              <p:nvPr userDrawn="1"/>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grpSp>
        <p:nvGrpSpPr>
          <p:cNvPr id="17" name="Group 16">
            <a:extLst>
              <a:ext uri="{FF2B5EF4-FFF2-40B4-BE49-F238E27FC236}">
                <a16:creationId xmlns:a16="http://schemas.microsoft.com/office/drawing/2014/main" id="{02491172-466F-19CC-B639-A1C3CAB1D43A}"/>
              </a:ext>
              <a:ext uri="{C183D7F6-B498-43B3-948B-1728B52AA6E4}">
                <adec:decorative xmlns:adec="http://schemas.microsoft.com/office/drawing/2017/decorative" val="1"/>
              </a:ext>
            </a:extLst>
          </p:cNvPr>
          <p:cNvGrpSpPr/>
          <p:nvPr userDrawn="1"/>
        </p:nvGrpSpPr>
        <p:grpSpPr>
          <a:xfrm>
            <a:off x="5690545" y="4100655"/>
            <a:ext cx="1335600" cy="1262947"/>
            <a:chOff x="10145015" y="2343978"/>
            <a:chExt cx="1335600" cy="1262947"/>
          </a:xfrm>
        </p:grpSpPr>
        <p:sp>
          <p:nvSpPr>
            <p:cNvPr id="18" name="Freeform: Shape 25">
              <a:extLst>
                <a:ext uri="{FF2B5EF4-FFF2-40B4-BE49-F238E27FC236}">
                  <a16:creationId xmlns:a16="http://schemas.microsoft.com/office/drawing/2014/main" id="{45EC885D-265C-397B-5DAF-57A66CDA30B5}"/>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9" name="Oval 18">
              <a:extLst>
                <a:ext uri="{FF2B5EF4-FFF2-40B4-BE49-F238E27FC236}">
                  <a16:creationId xmlns:a16="http://schemas.microsoft.com/office/drawing/2014/main" id="{3601DB21-D937-2F89-DC26-063DFC7800C8}"/>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Tree>
    <p:extLst>
      <p:ext uri="{BB962C8B-B14F-4D97-AF65-F5344CB8AC3E}">
        <p14:creationId xmlns:p14="http://schemas.microsoft.com/office/powerpoint/2010/main" val="2207653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rmAutofit/>
          </a:body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1000">
                <a:solidFill>
                  <a:schemeClr val="tx1">
                    <a:alpha val="80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1000">
                <a:solidFill>
                  <a:schemeClr val="tx1">
                    <a:alpha val="80000"/>
                  </a:schemeClr>
                </a:solidFill>
              </a:defRPr>
            </a:lvl1pPr>
          </a:lstStyle>
          <a:p>
            <a:endParaRPr lang="en-US" dirty="0"/>
          </a:p>
        </p:txBody>
      </p:sp>
      <p:sp>
        <p:nvSpPr>
          <p:cNvPr id="6" name="Slide Number Placeholder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1000">
                <a:solidFill>
                  <a:schemeClr val="tx1">
                    <a:alpha val="80000"/>
                  </a:schemeClr>
                </a:solidFill>
              </a:defRPr>
            </a:lvl1p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4222058729"/>
      </p:ext>
    </p:extLst>
  </p:cSld>
  <p:clrMap bg1="dk1" tx1="lt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Lst>
  <p:hf sldNum="0" hdr="0" ftr="0" dt="0"/>
  <p:txStyles>
    <p:title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4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2" pos="3840">
          <p15:clr>
            <a:srgbClr val="F26B43"/>
          </p15:clr>
        </p15:guide>
        <p15:guide id="33" orient="horz" pos="2160">
          <p15:clr>
            <a:srgbClr val="F26B43"/>
          </p15:clr>
        </p15:guide>
        <p15:guide id="34" pos="347">
          <p15:clr>
            <a:srgbClr val="F26B43"/>
          </p15:clr>
        </p15:guide>
        <p15:guide id="35" pos="7333">
          <p15:clr>
            <a:srgbClr val="F26B43"/>
          </p15:clr>
        </p15:guide>
        <p15:guide id="36" orient="horz" pos="346">
          <p15:clr>
            <a:srgbClr val="F26B43"/>
          </p15:clr>
        </p15:guide>
        <p15:guide id="37" orient="horz" pos="3974">
          <p15:clr>
            <a:srgbClr val="F26B43"/>
          </p15:clr>
        </p15:guide>
        <p15:guide id="38" pos="824">
          <p15:clr>
            <a:srgbClr val="A4A3A4"/>
          </p15:clr>
        </p15:guide>
        <p15:guide id="39" pos="937">
          <p15:clr>
            <a:srgbClr val="A4A3A4"/>
          </p15:clr>
        </p15:guide>
        <p15:guide id="40" pos="1413">
          <p15:clr>
            <a:srgbClr val="A4A3A4"/>
          </p15:clr>
        </p15:guide>
        <p15:guide id="41" pos="1527">
          <p15:clr>
            <a:srgbClr val="A4A3A4"/>
          </p15:clr>
        </p15:guide>
        <p15:guide id="42" pos="2003">
          <p15:clr>
            <a:srgbClr val="A4A3A4"/>
          </p15:clr>
        </p15:guide>
        <p15:guide id="43" pos="2116">
          <p15:clr>
            <a:srgbClr val="A4A3A4"/>
          </p15:clr>
        </p15:guide>
        <p15:guide id="44" pos="2593">
          <p15:clr>
            <a:srgbClr val="A4A3A4"/>
          </p15:clr>
        </p15:guide>
        <p15:guide id="45" pos="2706">
          <p15:clr>
            <a:srgbClr val="A4A3A4"/>
          </p15:clr>
        </p15:guide>
        <p15:guide id="46" pos="3182">
          <p15:clr>
            <a:srgbClr val="A4A3A4"/>
          </p15:clr>
        </p15:guide>
        <p15:guide id="47" pos="3318">
          <p15:clr>
            <a:srgbClr val="A4A3A4"/>
          </p15:clr>
        </p15:guide>
        <p15:guide id="48" pos="3772">
          <p15:clr>
            <a:srgbClr val="A4A3A4"/>
          </p15:clr>
        </p15:guide>
        <p15:guide id="49" pos="3908">
          <p15:clr>
            <a:srgbClr val="A4A3A4"/>
          </p15:clr>
        </p15:guide>
        <p15:guide id="50" pos="4362">
          <p15:clr>
            <a:srgbClr val="A4A3A4"/>
          </p15:clr>
        </p15:guide>
        <p15:guide id="51" pos="4498">
          <p15:clr>
            <a:srgbClr val="A4A3A4"/>
          </p15:clr>
        </p15:guide>
        <p15:guide id="52" pos="4951">
          <p15:clr>
            <a:srgbClr val="A4A3A4"/>
          </p15:clr>
        </p15:guide>
        <p15:guide id="53" pos="5087">
          <p15:clr>
            <a:srgbClr val="A4A3A4"/>
          </p15:clr>
        </p15:guide>
        <p15:guide id="54" pos="5541">
          <p15:clr>
            <a:srgbClr val="A4A3A4"/>
          </p15:clr>
        </p15:guide>
        <p15:guide id="55" pos="5677">
          <p15:clr>
            <a:srgbClr val="A4A3A4"/>
          </p15:clr>
        </p15:guide>
        <p15:guide id="56" pos="6153">
          <p15:clr>
            <a:srgbClr val="A4A3A4"/>
          </p15:clr>
        </p15:guide>
        <p15:guide id="57" pos="6267">
          <p15:clr>
            <a:srgbClr val="A4A3A4"/>
          </p15:clr>
        </p15:guide>
        <p15:guide id="58" pos="6743">
          <p15:clr>
            <a:srgbClr val="A4A3A4"/>
          </p15:clr>
        </p15:guide>
        <p15:guide id="59" pos="6856">
          <p15:clr>
            <a:srgbClr val="A4A3A4"/>
          </p15:clr>
        </p15:guide>
        <p15:guide id="60" orient="horz" pos="3838">
          <p15:clr>
            <a:srgbClr val="A4A3A4"/>
          </p15:clr>
        </p15:guide>
        <p15:guide id="61" orient="horz" pos="2092">
          <p15:clr>
            <a:srgbClr val="A4A3A4"/>
          </p15:clr>
        </p15:guide>
        <p15:guide id="62" orient="horz" pos="2228">
          <p15:clr>
            <a:srgbClr val="A4A3A4"/>
          </p15:clr>
        </p15:guide>
        <p15:guide id="63" orient="horz" pos="845">
          <p15:clr>
            <a:srgbClr val="A4A3A4"/>
          </p15:clr>
        </p15:guide>
        <p15:guide id="64" orient="horz" pos="958">
          <p15:clr>
            <a:srgbClr val="A4A3A4"/>
          </p15:clr>
        </p15:guide>
        <p15:guide id="65" orient="horz" pos="1480">
          <p15:clr>
            <a:srgbClr val="A4A3A4"/>
          </p15:clr>
        </p15:guide>
        <p15:guide id="66" orient="horz" pos="1593">
          <p15:clr>
            <a:srgbClr val="A4A3A4"/>
          </p15:clr>
        </p15:guide>
        <p15:guide id="67" orient="horz" pos="2727">
          <p15:clr>
            <a:srgbClr val="A4A3A4"/>
          </p15:clr>
        </p15:guide>
        <p15:guide id="68" orient="horz" pos="2840">
          <p15:clr>
            <a:srgbClr val="A4A3A4"/>
          </p15:clr>
        </p15:guide>
        <p15:guide id="69" orient="horz" pos="3339">
          <p15:clr>
            <a:srgbClr val="A4A3A4"/>
          </p15:clr>
        </p15:guide>
        <p15:guide id="70" orient="horz" pos="347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truck with boxes and a person standing next to it&#10;&#10;AI-generated content may be incorrect.">
            <a:extLst>
              <a:ext uri="{FF2B5EF4-FFF2-40B4-BE49-F238E27FC236}">
                <a16:creationId xmlns:a16="http://schemas.microsoft.com/office/drawing/2014/main" id="{917D6585-5FD1-8702-5A17-36F293AA13B6}"/>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306" r="4306"/>
          <a:stretch>
            <a:fillRect/>
          </a:stretch>
        </p:blipFill>
        <p:spPr/>
      </p:pic>
      <p:sp>
        <p:nvSpPr>
          <p:cNvPr id="4" name="Title 3">
            <a:extLst>
              <a:ext uri="{FF2B5EF4-FFF2-40B4-BE49-F238E27FC236}">
                <a16:creationId xmlns:a16="http://schemas.microsoft.com/office/drawing/2014/main" id="{10047101-8D42-6100-9CEA-AEC0FAEAB606}"/>
              </a:ext>
            </a:extLst>
          </p:cNvPr>
          <p:cNvSpPr>
            <a:spLocks noGrp="1"/>
          </p:cNvSpPr>
          <p:nvPr>
            <p:ph type="title"/>
          </p:nvPr>
        </p:nvSpPr>
        <p:spPr>
          <a:xfrm>
            <a:off x="6755130" y="429257"/>
            <a:ext cx="4624442" cy="5542025"/>
          </a:xfrm>
          <a:noFill/>
        </p:spPr>
        <p:txBody>
          <a:bodyPr anchor="ctr">
            <a:noAutofit/>
          </a:bodyPr>
          <a:lstStyle/>
          <a:p>
            <a:pPr algn="ctr"/>
            <a:r>
              <a:rPr lang="en-US" b="1" dirty="0">
                <a:solidFill>
                  <a:srgbClr val="FFFF00"/>
                </a:solidFill>
                <a:latin typeface="Aptos" panose="020B0004020202020204" pitchFamily="34" charset="0"/>
              </a:rPr>
              <a:t>Presented by </a:t>
            </a:r>
            <a:br>
              <a:rPr lang="en-US" b="1" dirty="0">
                <a:solidFill>
                  <a:srgbClr val="FFFF00"/>
                </a:solidFill>
                <a:latin typeface="Aptos" panose="020B0004020202020204" pitchFamily="34" charset="0"/>
              </a:rPr>
            </a:br>
            <a:br>
              <a:rPr lang="en-US" b="1" dirty="0">
                <a:solidFill>
                  <a:srgbClr val="FFFF00"/>
                </a:solidFill>
                <a:latin typeface="Aptos" panose="020B0004020202020204" pitchFamily="34" charset="0"/>
              </a:rPr>
            </a:br>
            <a:r>
              <a:rPr lang="en-US" sz="3000" b="1" dirty="0">
                <a:solidFill>
                  <a:srgbClr val="FFFF00"/>
                </a:solidFill>
                <a:latin typeface="Aptos" panose="020B0004020202020204" pitchFamily="34" charset="0"/>
              </a:rPr>
              <a:t>ADELANWA OGUNLOLU</a:t>
            </a:r>
          </a:p>
        </p:txBody>
      </p:sp>
      <p:sp>
        <p:nvSpPr>
          <p:cNvPr id="2" name="TextBox 1">
            <a:extLst>
              <a:ext uri="{FF2B5EF4-FFF2-40B4-BE49-F238E27FC236}">
                <a16:creationId xmlns:a16="http://schemas.microsoft.com/office/drawing/2014/main" id="{4441067C-5B26-C083-5ECF-9511D1B2B695}"/>
              </a:ext>
            </a:extLst>
          </p:cNvPr>
          <p:cNvSpPr txBox="1"/>
          <p:nvPr/>
        </p:nvSpPr>
        <p:spPr>
          <a:xfrm>
            <a:off x="416560" y="792480"/>
            <a:ext cx="5608320" cy="4247317"/>
          </a:xfrm>
          <a:prstGeom prst="rect">
            <a:avLst/>
          </a:prstGeom>
          <a:noFill/>
        </p:spPr>
        <p:txBody>
          <a:bodyPr wrap="square" rtlCol="0">
            <a:spAutoFit/>
          </a:bodyPr>
          <a:lstStyle/>
          <a:p>
            <a:pPr algn="ctr"/>
            <a:r>
              <a:rPr lang="en-US" sz="4500" dirty="0">
                <a:solidFill>
                  <a:srgbClr val="FFC000"/>
                </a:solidFill>
                <a:latin typeface="Aptos" panose="020B0004020202020204" pitchFamily="34" charset="0"/>
              </a:rPr>
              <a:t>Streamline Logistics Solutions</a:t>
            </a:r>
            <a:br>
              <a:rPr lang="en-US" sz="4500" dirty="0">
                <a:solidFill>
                  <a:srgbClr val="FFC000"/>
                </a:solidFill>
                <a:latin typeface="Aptos" panose="020B0004020202020204" pitchFamily="34" charset="0"/>
              </a:rPr>
            </a:br>
            <a:endParaRPr lang="en-US" sz="4500" dirty="0">
              <a:solidFill>
                <a:srgbClr val="FFC000"/>
              </a:solidFill>
              <a:latin typeface="Aptos" panose="020B0004020202020204" pitchFamily="34" charset="0"/>
            </a:endParaRPr>
          </a:p>
          <a:p>
            <a:pPr algn="ctr"/>
            <a:r>
              <a:rPr lang="en-US" sz="4500" dirty="0">
                <a:solidFill>
                  <a:srgbClr val="FFC000"/>
                </a:solidFill>
                <a:latin typeface="Aptos" panose="020B0004020202020204" pitchFamily="34" charset="0"/>
              </a:rPr>
              <a:t>Delivery Performance </a:t>
            </a:r>
            <a:br>
              <a:rPr lang="en-US" sz="4500" dirty="0">
                <a:solidFill>
                  <a:srgbClr val="FFC000"/>
                </a:solidFill>
                <a:latin typeface="Aptos" panose="020B0004020202020204" pitchFamily="34" charset="0"/>
              </a:rPr>
            </a:br>
            <a:r>
              <a:rPr lang="en-US" sz="4500" dirty="0">
                <a:solidFill>
                  <a:srgbClr val="FFC000"/>
                </a:solidFill>
                <a:latin typeface="Aptos" panose="020B0004020202020204" pitchFamily="34" charset="0"/>
              </a:rPr>
              <a:t>Dashboard</a:t>
            </a:r>
            <a:br>
              <a:rPr lang="en-US" sz="4500" dirty="0">
                <a:solidFill>
                  <a:schemeClr val="bg1"/>
                </a:solidFill>
                <a:latin typeface="Aptos" panose="020B0004020202020204" pitchFamily="34" charset="0"/>
              </a:rPr>
            </a:br>
            <a:endParaRPr lang="en-US" sz="4500" dirty="0">
              <a:solidFill>
                <a:schemeClr val="bg1"/>
              </a:solidFill>
              <a:latin typeface="Aptos" panose="020B0004020202020204" pitchFamily="34" charset="0"/>
            </a:endParaRPr>
          </a:p>
        </p:txBody>
      </p:sp>
    </p:spTree>
    <p:extLst>
      <p:ext uri="{BB962C8B-B14F-4D97-AF65-F5344CB8AC3E}">
        <p14:creationId xmlns:p14="http://schemas.microsoft.com/office/powerpoint/2010/main" val="2803092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5BE93-0252-3CC3-B567-14EC47EB8C7F}"/>
              </a:ext>
            </a:extLst>
          </p:cNvPr>
          <p:cNvSpPr>
            <a:spLocks noGrp="1"/>
          </p:cNvSpPr>
          <p:nvPr>
            <p:ph type="title"/>
          </p:nvPr>
        </p:nvSpPr>
        <p:spPr>
          <a:xfrm>
            <a:off x="550863" y="483925"/>
            <a:ext cx="11090275" cy="1111196"/>
          </a:xfrm>
        </p:spPr>
        <p:txBody>
          <a:bodyPr/>
          <a:lstStyle/>
          <a:p>
            <a:r>
              <a:rPr lang="en-US" dirty="0">
                <a:solidFill>
                  <a:srgbClr val="FFC000"/>
                </a:solidFill>
              </a:rPr>
              <a:t>Agenda</a:t>
            </a:r>
          </a:p>
        </p:txBody>
      </p:sp>
      <p:sp>
        <p:nvSpPr>
          <p:cNvPr id="3" name="Content Placeholder 2">
            <a:extLst>
              <a:ext uri="{FF2B5EF4-FFF2-40B4-BE49-F238E27FC236}">
                <a16:creationId xmlns:a16="http://schemas.microsoft.com/office/drawing/2014/main" id="{1ABCA07C-1908-B1EB-82FA-EC63DAAF4CF4}"/>
              </a:ext>
            </a:extLst>
          </p:cNvPr>
          <p:cNvSpPr>
            <a:spLocks noGrp="1"/>
          </p:cNvSpPr>
          <p:nvPr>
            <p:ph sz="quarter" idx="13"/>
          </p:nvPr>
        </p:nvSpPr>
        <p:spPr>
          <a:xfrm>
            <a:off x="550863" y="1728470"/>
            <a:ext cx="11090274" cy="3913188"/>
          </a:xfrm>
        </p:spPr>
        <p:txBody>
          <a:bodyPr>
            <a:normAutofit lnSpcReduction="10000"/>
          </a:bodyPr>
          <a:lstStyle/>
          <a:p>
            <a:r>
              <a:rPr lang="en-US" sz="3000" i="1" dirty="0">
                <a:solidFill>
                  <a:srgbClr val="FFFF00"/>
                </a:solidFill>
                <a:latin typeface="Arial" panose="020B0604020202020204" pitchFamily="34" charset="0"/>
                <a:cs typeface="Arial" panose="020B0604020202020204" pitchFamily="34" charset="0"/>
              </a:rPr>
              <a:t>Business overview </a:t>
            </a:r>
          </a:p>
          <a:p>
            <a:r>
              <a:rPr lang="en-US" sz="3000" dirty="0">
                <a:solidFill>
                  <a:srgbClr val="FFFF00"/>
                </a:solidFill>
              </a:rPr>
              <a:t>Business challenges</a:t>
            </a:r>
          </a:p>
          <a:p>
            <a:r>
              <a:rPr lang="en-US" sz="3000" dirty="0">
                <a:solidFill>
                  <a:srgbClr val="FFFF00"/>
                </a:solidFill>
              </a:rPr>
              <a:t>Key performance index</a:t>
            </a:r>
          </a:p>
          <a:p>
            <a:r>
              <a:rPr lang="en-US" sz="3000" dirty="0">
                <a:solidFill>
                  <a:srgbClr val="FFFF00"/>
                </a:solidFill>
              </a:rPr>
              <a:t>Delivery Performance Dashboard</a:t>
            </a:r>
          </a:p>
          <a:p>
            <a:r>
              <a:rPr lang="en-US" sz="3000" dirty="0">
                <a:solidFill>
                  <a:srgbClr val="FFFF00"/>
                </a:solidFill>
              </a:rPr>
              <a:t>Insights and recommendations</a:t>
            </a:r>
          </a:p>
          <a:p>
            <a:r>
              <a:rPr lang="en-US" sz="3000" dirty="0">
                <a:solidFill>
                  <a:srgbClr val="FFFF00"/>
                </a:solidFill>
              </a:rPr>
              <a:t>Thank you</a:t>
            </a:r>
          </a:p>
        </p:txBody>
      </p:sp>
    </p:spTree>
    <p:extLst>
      <p:ext uri="{BB962C8B-B14F-4D97-AF65-F5344CB8AC3E}">
        <p14:creationId xmlns:p14="http://schemas.microsoft.com/office/powerpoint/2010/main" val="2665045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F8361-15D7-6408-DB16-C6BC3C7AD0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52F8E2-3A33-646E-E55F-734A90683026}"/>
              </a:ext>
            </a:extLst>
          </p:cNvPr>
          <p:cNvSpPr>
            <a:spLocks noGrp="1"/>
          </p:cNvSpPr>
          <p:nvPr>
            <p:ph type="title"/>
          </p:nvPr>
        </p:nvSpPr>
        <p:spPr>
          <a:xfrm>
            <a:off x="550863" y="483925"/>
            <a:ext cx="11090275" cy="694636"/>
          </a:xfrm>
        </p:spPr>
        <p:txBody>
          <a:bodyPr/>
          <a:lstStyle/>
          <a:p>
            <a:r>
              <a:rPr lang="en-US" dirty="0">
                <a:solidFill>
                  <a:srgbClr val="FFC000"/>
                </a:solidFill>
                <a:latin typeface="Walbaum Display (Headings)"/>
              </a:rPr>
              <a:t>Business Overview</a:t>
            </a:r>
          </a:p>
        </p:txBody>
      </p:sp>
      <p:sp>
        <p:nvSpPr>
          <p:cNvPr id="3" name="Content Placeholder 2">
            <a:extLst>
              <a:ext uri="{FF2B5EF4-FFF2-40B4-BE49-F238E27FC236}">
                <a16:creationId xmlns:a16="http://schemas.microsoft.com/office/drawing/2014/main" id="{F4B74B3B-18FA-03E0-8C6F-6A5AD4F9220A}"/>
              </a:ext>
            </a:extLst>
          </p:cNvPr>
          <p:cNvSpPr>
            <a:spLocks noGrp="1"/>
          </p:cNvSpPr>
          <p:nvPr>
            <p:ph sz="quarter" idx="13"/>
          </p:nvPr>
        </p:nvSpPr>
        <p:spPr>
          <a:xfrm>
            <a:off x="550863" y="1625600"/>
            <a:ext cx="11090274" cy="4706938"/>
          </a:xfrm>
        </p:spPr>
        <p:txBody>
          <a:bodyPr>
            <a:normAutofit/>
          </a:bodyPr>
          <a:lstStyle/>
          <a:p>
            <a:r>
              <a:rPr lang="en-US" sz="3000" dirty="0">
                <a:solidFill>
                  <a:srgbClr val="FFFF00"/>
                </a:solidFill>
              </a:rPr>
              <a:t>Streamline Logistics Solutions is a distinguished and growing leader in the supply chain and logistics industry since 2023. Known for reliability and efficiency, the company provides expert nationwide logistics services, consistently maintaining high standards of service excellence. Streamline optimizes transportation processes and delivery performance by offering tailored solutions designed to reduce operational costs. We are committed to operational efficiency and customer satisfaction.</a:t>
            </a:r>
          </a:p>
          <a:p>
            <a:endParaRPr lang="en-US" sz="3000" dirty="0">
              <a:solidFill>
                <a:srgbClr val="FFFF00"/>
              </a:solidFill>
            </a:endParaRPr>
          </a:p>
        </p:txBody>
      </p:sp>
    </p:spTree>
    <p:extLst>
      <p:ext uri="{BB962C8B-B14F-4D97-AF65-F5344CB8AC3E}">
        <p14:creationId xmlns:p14="http://schemas.microsoft.com/office/powerpoint/2010/main" val="3298437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CE472-E340-7985-C616-5E263561F6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A3CCCF-6D0D-83CA-75C0-C089B8FA0DC4}"/>
              </a:ext>
            </a:extLst>
          </p:cNvPr>
          <p:cNvSpPr>
            <a:spLocks noGrp="1"/>
          </p:cNvSpPr>
          <p:nvPr>
            <p:ph type="title"/>
          </p:nvPr>
        </p:nvSpPr>
        <p:spPr>
          <a:xfrm>
            <a:off x="550862" y="483925"/>
            <a:ext cx="11090275" cy="725116"/>
          </a:xfrm>
        </p:spPr>
        <p:txBody>
          <a:bodyPr/>
          <a:lstStyle/>
          <a:p>
            <a:r>
              <a:rPr lang="en-US" dirty="0">
                <a:solidFill>
                  <a:srgbClr val="FFC000"/>
                </a:solidFill>
                <a:latin typeface="Walbaum Display (Headings)"/>
              </a:rPr>
              <a:t>Business Challenges</a:t>
            </a:r>
          </a:p>
        </p:txBody>
      </p:sp>
      <p:pic>
        <p:nvPicPr>
          <p:cNvPr id="12" name="Content Placeholder 11">
            <a:extLst>
              <a:ext uri="{FF2B5EF4-FFF2-40B4-BE49-F238E27FC236}">
                <a16:creationId xmlns:a16="http://schemas.microsoft.com/office/drawing/2014/main" id="{22E08F9D-326E-1472-90A9-2AE88ADA604B}"/>
              </a:ext>
            </a:extLst>
          </p:cNvPr>
          <p:cNvPicPr>
            <a:picLocks noGrp="1" noChangeAspect="1"/>
          </p:cNvPicPr>
          <p:nvPr>
            <p:ph sz="quarter" idx="13"/>
          </p:nvPr>
        </p:nvPicPr>
        <p:blipFill>
          <a:blip r:embed="rId3"/>
          <a:stretch>
            <a:fillRect/>
          </a:stretch>
        </p:blipFill>
        <p:spPr>
          <a:xfrm>
            <a:off x="1300480" y="1331857"/>
            <a:ext cx="9367520" cy="5042218"/>
          </a:xfrm>
          <a:prstGeom prst="rect">
            <a:avLst/>
          </a:prstGeom>
        </p:spPr>
      </p:pic>
    </p:spTree>
    <p:extLst>
      <p:ext uri="{BB962C8B-B14F-4D97-AF65-F5344CB8AC3E}">
        <p14:creationId xmlns:p14="http://schemas.microsoft.com/office/powerpoint/2010/main" val="666440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67E98-91AC-605A-386F-2AD5EE09EB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5774FC-56CA-D798-DAF4-FCC6A2179C56}"/>
              </a:ext>
            </a:extLst>
          </p:cNvPr>
          <p:cNvSpPr>
            <a:spLocks noGrp="1"/>
          </p:cNvSpPr>
          <p:nvPr>
            <p:ph type="title"/>
          </p:nvPr>
        </p:nvSpPr>
        <p:spPr>
          <a:xfrm>
            <a:off x="550863" y="504245"/>
            <a:ext cx="11090275" cy="562556"/>
          </a:xfrm>
        </p:spPr>
        <p:txBody>
          <a:bodyPr/>
          <a:lstStyle/>
          <a:p>
            <a:r>
              <a:rPr lang="en-US" dirty="0">
                <a:solidFill>
                  <a:srgbClr val="FFC000"/>
                </a:solidFill>
              </a:rPr>
              <a:t>Key Performance Index</a:t>
            </a:r>
          </a:p>
        </p:txBody>
      </p:sp>
      <p:sp>
        <p:nvSpPr>
          <p:cNvPr id="3" name="Content Placeholder 2">
            <a:extLst>
              <a:ext uri="{FF2B5EF4-FFF2-40B4-BE49-F238E27FC236}">
                <a16:creationId xmlns:a16="http://schemas.microsoft.com/office/drawing/2014/main" id="{7AE84F82-5672-476B-F50E-EDF5C8F217B3}"/>
              </a:ext>
            </a:extLst>
          </p:cNvPr>
          <p:cNvSpPr>
            <a:spLocks noGrp="1"/>
          </p:cNvSpPr>
          <p:nvPr>
            <p:ph sz="quarter" idx="13"/>
          </p:nvPr>
        </p:nvSpPr>
        <p:spPr>
          <a:xfrm>
            <a:off x="550863" y="1310640"/>
            <a:ext cx="4000817" cy="2661920"/>
          </a:xfrm>
        </p:spPr>
        <p:txBody>
          <a:bodyPr>
            <a:normAutofit/>
          </a:bodyPr>
          <a:lstStyle/>
          <a:p>
            <a:pPr marL="285750" indent="-285750">
              <a:buFont typeface="Arial" panose="020B0604020202020204" pitchFamily="34" charset="0"/>
              <a:buChar char="•"/>
            </a:pPr>
            <a:r>
              <a:rPr lang="en-US" sz="2000" dirty="0">
                <a:solidFill>
                  <a:srgbClr val="FFFF00"/>
                </a:solidFill>
              </a:rPr>
              <a:t>Orders: 1,500, </a:t>
            </a:r>
          </a:p>
          <a:p>
            <a:pPr marL="285750" indent="-285750">
              <a:buFont typeface="Arial" panose="020B0604020202020204" pitchFamily="34" charset="0"/>
              <a:buChar char="•"/>
            </a:pPr>
            <a:r>
              <a:rPr lang="en-US" sz="2000" dirty="0">
                <a:solidFill>
                  <a:srgbClr val="FFFF00"/>
                </a:solidFill>
              </a:rPr>
              <a:t> Avg delivery time: 152 min</a:t>
            </a:r>
          </a:p>
          <a:p>
            <a:pPr marL="285750" indent="-285750">
              <a:buFont typeface="Arial" panose="020B0604020202020204" pitchFamily="34" charset="0"/>
              <a:buChar char="•"/>
            </a:pPr>
            <a:r>
              <a:rPr lang="en-US" sz="2000" dirty="0">
                <a:solidFill>
                  <a:srgbClr val="FFFF00"/>
                </a:solidFill>
              </a:rPr>
              <a:t>Avg delay time: 14.5 min</a:t>
            </a:r>
          </a:p>
          <a:p>
            <a:pPr marL="285750" indent="-285750">
              <a:buFont typeface="Arial" panose="020B0604020202020204" pitchFamily="34" charset="0"/>
              <a:buChar char="•"/>
            </a:pPr>
            <a:r>
              <a:rPr lang="en-US" sz="2000" dirty="0">
                <a:solidFill>
                  <a:srgbClr val="FFFF00"/>
                </a:solidFill>
              </a:rPr>
              <a:t>Delivery efficiency: 90.5%</a:t>
            </a:r>
          </a:p>
          <a:p>
            <a:pPr marL="285750" indent="-285750">
              <a:buFont typeface="Arial" panose="020B0604020202020204" pitchFamily="34" charset="0"/>
              <a:buChar char="•"/>
            </a:pPr>
            <a:r>
              <a:rPr lang="en-US" sz="2000" dirty="0">
                <a:solidFill>
                  <a:srgbClr val="FFFF00"/>
                </a:solidFill>
              </a:rPr>
              <a:t>Negative feedback: 35%</a:t>
            </a:r>
          </a:p>
        </p:txBody>
      </p:sp>
      <p:sp>
        <p:nvSpPr>
          <p:cNvPr id="4" name="TextBox 3">
            <a:extLst>
              <a:ext uri="{FF2B5EF4-FFF2-40B4-BE49-F238E27FC236}">
                <a16:creationId xmlns:a16="http://schemas.microsoft.com/office/drawing/2014/main" id="{DCE153C9-6F23-CC51-26A2-78DFC7A0060D}"/>
              </a:ext>
            </a:extLst>
          </p:cNvPr>
          <p:cNvSpPr txBox="1"/>
          <p:nvPr/>
        </p:nvSpPr>
        <p:spPr>
          <a:xfrm>
            <a:off x="4907280" y="1209040"/>
            <a:ext cx="6573520" cy="4985980"/>
          </a:xfrm>
          <a:prstGeom prst="rect">
            <a:avLst/>
          </a:prstGeom>
          <a:noFill/>
        </p:spPr>
        <p:txBody>
          <a:bodyPr wrap="square" rtlCol="0">
            <a:spAutoFit/>
          </a:bodyPr>
          <a:lstStyle/>
          <a:p>
            <a:r>
              <a:rPr lang="en-US" sz="2500" dirty="0">
                <a:solidFill>
                  <a:srgbClr val="FFC000"/>
                </a:solidFill>
              </a:rPr>
              <a:t>Insights:</a:t>
            </a:r>
          </a:p>
          <a:p>
            <a:endParaRPr lang="en-US" dirty="0"/>
          </a:p>
          <a:p>
            <a:pPr marL="285750" indent="-285750">
              <a:buFont typeface="Arial" panose="020B0604020202020204" pitchFamily="34" charset="0"/>
              <a:buChar char="•"/>
            </a:pPr>
            <a:r>
              <a:rPr lang="en-US" sz="2500" dirty="0">
                <a:solidFill>
                  <a:srgbClr val="FFFF00"/>
                </a:solidFill>
              </a:rPr>
              <a:t>Delivery Time: 152 minutes exceeds optimal thresholds for urban logistics.</a:t>
            </a:r>
          </a:p>
          <a:p>
            <a:pPr marL="285750" indent="-285750">
              <a:buFont typeface="Arial" panose="020B0604020202020204" pitchFamily="34" charset="0"/>
              <a:buChar char="•"/>
            </a:pPr>
            <a:r>
              <a:rPr lang="en-US" sz="2500" dirty="0">
                <a:solidFill>
                  <a:srgbClr val="FFFF00"/>
                </a:solidFill>
              </a:rPr>
              <a:t>Delay Time: 14.5 minutes suggests recurring route or dispatch inefficiencies.</a:t>
            </a:r>
          </a:p>
          <a:p>
            <a:pPr marL="285750" indent="-285750">
              <a:buFont typeface="Arial" panose="020B0604020202020204" pitchFamily="34" charset="0"/>
              <a:buChar char="•"/>
            </a:pPr>
            <a:r>
              <a:rPr lang="en-US" sz="2500" dirty="0">
                <a:solidFill>
                  <a:srgbClr val="FFFF00"/>
                </a:solidFill>
              </a:rPr>
              <a:t>Negative Feedback: 35% is significantly high likely tied to delays and missed expectations. This may reduce repeat orders and brand trust.</a:t>
            </a:r>
          </a:p>
          <a:p>
            <a:pPr marL="285750" indent="-285750">
              <a:buFont typeface="Arial" panose="020B0604020202020204" pitchFamily="34" charset="0"/>
              <a:buChar char="•"/>
            </a:pPr>
            <a:r>
              <a:rPr lang="en-US" sz="2500" dirty="0">
                <a:solidFill>
                  <a:srgbClr val="FFFF00"/>
                </a:solidFill>
              </a:rPr>
              <a:t>Efficiency: 90.5% is good, but not optimal — room for improvement in route planning and driver load balancing</a:t>
            </a:r>
            <a:r>
              <a:rPr lang="en-US" dirty="0">
                <a:solidFill>
                  <a:srgbClr val="FFFF00"/>
                </a:solidFill>
              </a:rPr>
              <a:t>.</a:t>
            </a:r>
          </a:p>
        </p:txBody>
      </p:sp>
    </p:spTree>
    <p:extLst>
      <p:ext uri="{BB962C8B-B14F-4D97-AF65-F5344CB8AC3E}">
        <p14:creationId xmlns:p14="http://schemas.microsoft.com/office/powerpoint/2010/main" val="1132080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BF15D-5AD4-789E-B974-60DF23BE6E7A}"/>
            </a:ext>
          </a:extLst>
        </p:cNvPr>
        <p:cNvGrpSpPr/>
        <p:nvPr/>
      </p:nvGrpSpPr>
      <p:grpSpPr>
        <a:xfrm>
          <a:off x="0" y="0"/>
          <a:ext cx="0" cy="0"/>
          <a:chOff x="0" y="0"/>
          <a:chExt cx="0" cy="0"/>
        </a:xfrm>
      </p:grpSpPr>
      <p:pic>
        <p:nvPicPr>
          <p:cNvPr id="3" name="Picture 2" descr="A screenshot of a computer screen">
            <a:extLst>
              <a:ext uri="{FF2B5EF4-FFF2-40B4-BE49-F238E27FC236}">
                <a16:creationId xmlns:a16="http://schemas.microsoft.com/office/drawing/2014/main" id="{330E787D-889E-968B-6A6A-37C1F25C8DFB}"/>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3580044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4C70B-0A1E-29E4-09A7-E08356EE3A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5E77A2-367A-29D1-AF70-3DE9D06A8E15}"/>
              </a:ext>
            </a:extLst>
          </p:cNvPr>
          <p:cNvSpPr>
            <a:spLocks noGrp="1"/>
          </p:cNvSpPr>
          <p:nvPr>
            <p:ph type="title"/>
          </p:nvPr>
        </p:nvSpPr>
        <p:spPr>
          <a:xfrm>
            <a:off x="550863" y="101601"/>
            <a:ext cx="11090275" cy="528320"/>
          </a:xfrm>
        </p:spPr>
        <p:txBody>
          <a:bodyPr>
            <a:normAutofit fontScale="90000"/>
          </a:bodyPr>
          <a:lstStyle/>
          <a:p>
            <a:r>
              <a:rPr lang="en-US" dirty="0">
                <a:solidFill>
                  <a:srgbClr val="FFC000"/>
                </a:solidFill>
              </a:rPr>
              <a:t>Insights</a:t>
            </a:r>
          </a:p>
        </p:txBody>
      </p:sp>
      <p:sp>
        <p:nvSpPr>
          <p:cNvPr id="8" name="TextBox 7">
            <a:extLst>
              <a:ext uri="{FF2B5EF4-FFF2-40B4-BE49-F238E27FC236}">
                <a16:creationId xmlns:a16="http://schemas.microsoft.com/office/drawing/2014/main" id="{2A391BBB-D8F0-0212-43B7-6C5076DB90A6}"/>
              </a:ext>
            </a:extLst>
          </p:cNvPr>
          <p:cNvSpPr txBox="1"/>
          <p:nvPr/>
        </p:nvSpPr>
        <p:spPr>
          <a:xfrm>
            <a:off x="462116" y="3305507"/>
            <a:ext cx="5799138" cy="646331"/>
          </a:xfrm>
          <a:prstGeom prst="rect">
            <a:avLst/>
          </a:prstGeom>
          <a:noFill/>
        </p:spPr>
        <p:txBody>
          <a:bodyPr wrap="square" rtlCol="0">
            <a:spAutoFit/>
          </a:bodyPr>
          <a:lstStyle/>
          <a:p>
            <a:r>
              <a:rPr lang="en-US" sz="3600" dirty="0">
                <a:solidFill>
                  <a:srgbClr val="FFC000"/>
                </a:solidFill>
                <a:latin typeface="+mj-lt"/>
              </a:rPr>
              <a:t>Recommendations</a:t>
            </a:r>
          </a:p>
        </p:txBody>
      </p:sp>
      <p:sp>
        <p:nvSpPr>
          <p:cNvPr id="11" name="TextBox 10">
            <a:extLst>
              <a:ext uri="{FF2B5EF4-FFF2-40B4-BE49-F238E27FC236}">
                <a16:creationId xmlns:a16="http://schemas.microsoft.com/office/drawing/2014/main" id="{C8289708-81B9-B27B-1B7A-226D26306C56}"/>
              </a:ext>
            </a:extLst>
          </p:cNvPr>
          <p:cNvSpPr txBox="1"/>
          <p:nvPr/>
        </p:nvSpPr>
        <p:spPr>
          <a:xfrm>
            <a:off x="5862320" y="509676"/>
            <a:ext cx="6248400" cy="2616101"/>
          </a:xfrm>
          <a:prstGeom prst="rect">
            <a:avLst/>
          </a:prstGeom>
          <a:noFill/>
        </p:spPr>
        <p:txBody>
          <a:bodyPr wrap="square">
            <a:spAutoFit/>
          </a:bodyPr>
          <a:lstStyle/>
          <a:p>
            <a:pPr marL="285750" indent="-285750">
              <a:spcBef>
                <a:spcPts val="600"/>
              </a:spcBef>
              <a:spcAft>
                <a:spcPts val="600"/>
              </a:spcAft>
              <a:buFont typeface="Wingdings" panose="05000000000000000000" pitchFamily="2" charset="2"/>
              <a:buChar char="v"/>
            </a:pPr>
            <a:r>
              <a:rPr lang="en-US" dirty="0">
                <a:solidFill>
                  <a:srgbClr val="FFFF00"/>
                </a:solidFill>
              </a:rPr>
              <a:t>Backlog peaked at 106 on 2-Sep then trended downward to 86 by 5-Sep, showing a net reduction in pending orders early in the week</a:t>
            </a:r>
          </a:p>
          <a:p>
            <a:pPr marL="285750" indent="-285750">
              <a:spcBef>
                <a:spcPts val="600"/>
              </a:spcBef>
              <a:spcAft>
                <a:spcPts val="600"/>
              </a:spcAft>
              <a:buFont typeface="Wingdings" panose="05000000000000000000" pitchFamily="2" charset="2"/>
              <a:buChar char="v"/>
            </a:pPr>
            <a:r>
              <a:rPr lang="en-US" dirty="0">
                <a:solidFill>
                  <a:srgbClr val="FFFF00"/>
                </a:solidFill>
              </a:rPr>
              <a:t>A small rebound occurs on 6-Sep (95) before declining again to 87 on 8-Sep, indicating intermittent recovery but overall downward momentum </a:t>
            </a:r>
          </a:p>
          <a:p>
            <a:pPr marL="285750" indent="-285750">
              <a:spcBef>
                <a:spcPts val="600"/>
              </a:spcBef>
              <a:spcAft>
                <a:spcPts val="600"/>
              </a:spcAft>
              <a:buFont typeface="Wingdings" panose="05000000000000000000" pitchFamily="2" charset="2"/>
              <a:buChar char="v"/>
            </a:pPr>
            <a:r>
              <a:rPr lang="en-US" dirty="0">
                <a:solidFill>
                  <a:srgbClr val="FFFF00"/>
                </a:solidFill>
              </a:rPr>
              <a:t>Daily backlog remains above 85 orders — indicating unresolved volume or process inefficiencies</a:t>
            </a:r>
          </a:p>
        </p:txBody>
      </p:sp>
      <p:pic>
        <p:nvPicPr>
          <p:cNvPr id="13" name="Picture 12" descr="A graph of a line with numbers and a line&#10;&#10;AI-generated content may be incorrect.">
            <a:extLst>
              <a:ext uri="{FF2B5EF4-FFF2-40B4-BE49-F238E27FC236}">
                <a16:creationId xmlns:a16="http://schemas.microsoft.com/office/drawing/2014/main" id="{D257C7D7-0ECC-1B35-1312-B7487B9AC618}"/>
              </a:ext>
            </a:extLst>
          </p:cNvPr>
          <p:cNvPicPr>
            <a:picLocks noChangeAspect="1"/>
          </p:cNvPicPr>
          <p:nvPr/>
        </p:nvPicPr>
        <p:blipFill>
          <a:blip r:embed="rId3"/>
          <a:stretch>
            <a:fillRect/>
          </a:stretch>
        </p:blipFill>
        <p:spPr>
          <a:xfrm>
            <a:off x="462116" y="701042"/>
            <a:ext cx="5400204" cy="2442802"/>
          </a:xfrm>
          <a:prstGeom prst="rect">
            <a:avLst/>
          </a:prstGeom>
        </p:spPr>
      </p:pic>
      <p:sp>
        <p:nvSpPr>
          <p:cNvPr id="18" name="TextBox 17">
            <a:extLst>
              <a:ext uri="{FF2B5EF4-FFF2-40B4-BE49-F238E27FC236}">
                <a16:creationId xmlns:a16="http://schemas.microsoft.com/office/drawing/2014/main" id="{6F8EE324-0028-F250-4FB2-CCC35BE003E1}"/>
              </a:ext>
            </a:extLst>
          </p:cNvPr>
          <p:cNvSpPr txBox="1"/>
          <p:nvPr/>
        </p:nvSpPr>
        <p:spPr>
          <a:xfrm>
            <a:off x="345440" y="4149636"/>
            <a:ext cx="10109200" cy="1631216"/>
          </a:xfrm>
          <a:prstGeom prst="rect">
            <a:avLst/>
          </a:prstGeom>
          <a:noFill/>
        </p:spPr>
        <p:txBody>
          <a:bodyPr wrap="square" rtlCol="0">
            <a:spAutoFit/>
          </a:bodyPr>
          <a:lstStyle/>
          <a:p>
            <a:pPr marL="285750" lvl="0" indent="-285750" eaLnBrk="0" fontAlgn="base" hangingPunct="0">
              <a:spcBef>
                <a:spcPct val="0"/>
              </a:spcBef>
              <a:spcAft>
                <a:spcPct val="0"/>
              </a:spcAft>
              <a:buFont typeface="Wingdings" panose="05000000000000000000" pitchFamily="2" charset="2"/>
              <a:buChar char="v"/>
            </a:pPr>
            <a:r>
              <a:rPr lang="en-US" altLang="en-US" dirty="0">
                <a:solidFill>
                  <a:srgbClr val="FFFF00"/>
                </a:solidFill>
                <a:latin typeface="Arial" panose="020B0604020202020204" pitchFamily="34" charset="0"/>
              </a:rPr>
              <a:t>Set daily backlog threshold target: </a:t>
            </a:r>
            <a:r>
              <a:rPr lang="en-US" altLang="en-US" b="1" dirty="0">
                <a:solidFill>
                  <a:srgbClr val="FFFF00"/>
                </a:solidFill>
                <a:latin typeface="Arial" panose="020B0604020202020204" pitchFamily="34" charset="0"/>
              </a:rPr>
              <a:t>≤ 50 orders/day</a:t>
            </a:r>
            <a:r>
              <a:rPr lang="en-US" altLang="en-US" dirty="0">
                <a:solidFill>
                  <a:srgbClr val="FFFF00"/>
                </a:solidFill>
                <a:latin typeface="Arial" panose="020B0604020202020204" pitchFamily="34" charset="0"/>
              </a:rPr>
              <a:t> within 30 days. </a:t>
            </a:r>
          </a:p>
          <a:p>
            <a:pPr marL="285750" lvl="0" indent="-285750" eaLnBrk="0" fontAlgn="base" hangingPunct="0">
              <a:spcBef>
                <a:spcPct val="0"/>
              </a:spcBef>
              <a:spcAft>
                <a:spcPct val="0"/>
              </a:spcAft>
              <a:buFont typeface="Wingdings" panose="05000000000000000000" pitchFamily="2" charset="2"/>
              <a:buChar char="v"/>
            </a:pPr>
            <a:r>
              <a:rPr lang="en-US" altLang="en-US" dirty="0">
                <a:solidFill>
                  <a:srgbClr val="FFFF00"/>
                </a:solidFill>
                <a:latin typeface="Arial" panose="020B0604020202020204" pitchFamily="34" charset="0"/>
              </a:rPr>
              <a:t>Prioritize aging orders for immediate resolution using Excel filters and conditional formatting. </a:t>
            </a:r>
          </a:p>
          <a:p>
            <a:pPr marL="285750" lvl="0" indent="-285750" eaLnBrk="0" fontAlgn="base" hangingPunct="0">
              <a:spcBef>
                <a:spcPts val="600"/>
              </a:spcBef>
              <a:spcAft>
                <a:spcPts val="600"/>
              </a:spcAft>
              <a:buFont typeface="Wingdings" panose="05000000000000000000" pitchFamily="2" charset="2"/>
              <a:buChar char="v"/>
            </a:pPr>
            <a:r>
              <a:rPr lang="en-US" altLang="en-US" dirty="0">
                <a:solidFill>
                  <a:srgbClr val="FFFF00"/>
                </a:solidFill>
                <a:latin typeface="Arial" panose="020B0604020202020204" pitchFamily="34" charset="0"/>
              </a:rPr>
              <a:t>Use Excel’s </a:t>
            </a:r>
            <a:r>
              <a:rPr lang="en-US" altLang="en-US" b="1" dirty="0">
                <a:solidFill>
                  <a:srgbClr val="FFFF00"/>
                </a:solidFill>
                <a:latin typeface="Arial" panose="020B0604020202020204" pitchFamily="34" charset="0"/>
              </a:rPr>
              <a:t>COUNTIFS</a:t>
            </a:r>
            <a:r>
              <a:rPr lang="en-US" altLang="en-US" dirty="0">
                <a:solidFill>
                  <a:srgbClr val="FFFF00"/>
                </a:solidFill>
                <a:latin typeface="Arial" panose="020B0604020202020204" pitchFamily="34" charset="0"/>
              </a:rPr>
              <a:t> and </a:t>
            </a:r>
            <a:r>
              <a:rPr lang="en-US" altLang="en-US" b="1" dirty="0">
                <a:solidFill>
                  <a:srgbClr val="FFFF00"/>
                </a:solidFill>
                <a:latin typeface="Arial" panose="020B0604020202020204" pitchFamily="34" charset="0"/>
              </a:rPr>
              <a:t>DATEDIF</a:t>
            </a:r>
            <a:r>
              <a:rPr lang="en-US" altLang="en-US" dirty="0">
                <a:solidFill>
                  <a:srgbClr val="FFFF00"/>
                </a:solidFill>
                <a:latin typeface="Arial" panose="020B0604020202020204" pitchFamily="34" charset="0"/>
              </a:rPr>
              <a:t> to flag orders pending beyond SLA. </a:t>
            </a:r>
          </a:p>
          <a:p>
            <a:pPr marL="285750" lvl="0" indent="-285750" eaLnBrk="0" fontAlgn="base" hangingPunct="0">
              <a:spcBef>
                <a:spcPct val="0"/>
              </a:spcBef>
              <a:spcAft>
                <a:spcPct val="0"/>
              </a:spcAft>
              <a:buFont typeface="Wingdings" panose="05000000000000000000" pitchFamily="2" charset="2"/>
              <a:buChar char="v"/>
            </a:pPr>
            <a:r>
              <a:rPr lang="en-US" altLang="en-US" dirty="0">
                <a:solidFill>
                  <a:srgbClr val="FFFF00"/>
                </a:solidFill>
                <a:latin typeface="Arial" panose="020B0604020202020204" pitchFamily="34" charset="0"/>
              </a:rPr>
              <a:t>Build Excel dashboard with slicers for backlog by route, driver, and order age. </a:t>
            </a:r>
          </a:p>
          <a:p>
            <a:pPr marL="285750" lvl="0" indent="-285750" eaLnBrk="0" fontAlgn="base" hangingPunct="0">
              <a:spcBef>
                <a:spcPct val="0"/>
              </a:spcBef>
              <a:spcAft>
                <a:spcPct val="0"/>
              </a:spcAft>
              <a:buFont typeface="Wingdings" panose="05000000000000000000" pitchFamily="2" charset="2"/>
              <a:buChar char="v"/>
            </a:pPr>
            <a:r>
              <a:rPr lang="en-US" altLang="en-US" dirty="0">
                <a:solidFill>
                  <a:srgbClr val="FFFF00"/>
                </a:solidFill>
                <a:latin typeface="Arial" panose="020B0604020202020204" pitchFamily="34" charset="0"/>
              </a:rPr>
              <a:t>Use </a:t>
            </a:r>
            <a:r>
              <a:rPr lang="en-US" altLang="en-US" b="1" dirty="0">
                <a:solidFill>
                  <a:srgbClr val="FFFF00"/>
                </a:solidFill>
                <a:latin typeface="Arial" panose="020B0604020202020204" pitchFamily="34" charset="0"/>
              </a:rPr>
              <a:t>line charts</a:t>
            </a:r>
            <a:r>
              <a:rPr lang="en-US" altLang="en-US" dirty="0">
                <a:solidFill>
                  <a:srgbClr val="FFFF00"/>
                </a:solidFill>
                <a:latin typeface="Arial" panose="020B0604020202020204" pitchFamily="34" charset="0"/>
              </a:rPr>
              <a:t> and </a:t>
            </a:r>
            <a:r>
              <a:rPr lang="en-US" altLang="en-US" b="1" dirty="0">
                <a:solidFill>
                  <a:srgbClr val="FFFF00"/>
                </a:solidFill>
                <a:latin typeface="Arial" panose="020B0604020202020204" pitchFamily="34" charset="0"/>
              </a:rPr>
              <a:t>trendlines</a:t>
            </a:r>
            <a:r>
              <a:rPr lang="en-US" altLang="en-US" dirty="0">
                <a:solidFill>
                  <a:srgbClr val="FFFF00"/>
                </a:solidFill>
                <a:latin typeface="Arial" panose="020B0604020202020204" pitchFamily="34" charset="0"/>
              </a:rPr>
              <a:t> to visualize backlog momentum and forecast clearance. </a:t>
            </a:r>
          </a:p>
        </p:txBody>
      </p:sp>
    </p:spTree>
    <p:extLst>
      <p:ext uri="{BB962C8B-B14F-4D97-AF65-F5344CB8AC3E}">
        <p14:creationId xmlns:p14="http://schemas.microsoft.com/office/powerpoint/2010/main" val="2046758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3CAFE-9141-0BF1-2710-36FC70697D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B66B76-7F17-9BC8-155D-0AC5CED94FEF}"/>
              </a:ext>
            </a:extLst>
          </p:cNvPr>
          <p:cNvSpPr>
            <a:spLocks noGrp="1"/>
          </p:cNvSpPr>
          <p:nvPr>
            <p:ph type="title"/>
          </p:nvPr>
        </p:nvSpPr>
        <p:spPr>
          <a:xfrm>
            <a:off x="550863" y="223864"/>
            <a:ext cx="1948497" cy="548296"/>
          </a:xfrm>
        </p:spPr>
        <p:txBody>
          <a:bodyPr>
            <a:normAutofit fontScale="90000"/>
          </a:bodyPr>
          <a:lstStyle/>
          <a:p>
            <a:r>
              <a:rPr lang="en-US" dirty="0">
                <a:solidFill>
                  <a:srgbClr val="FFC000"/>
                </a:solidFill>
              </a:rPr>
              <a:t>Insights</a:t>
            </a:r>
            <a:endParaRPr lang="en-US" dirty="0">
              <a:solidFill>
                <a:srgbClr val="FFFF00"/>
              </a:solidFill>
            </a:endParaRPr>
          </a:p>
        </p:txBody>
      </p:sp>
      <p:sp>
        <p:nvSpPr>
          <p:cNvPr id="6" name="TextBox 5">
            <a:extLst>
              <a:ext uri="{FF2B5EF4-FFF2-40B4-BE49-F238E27FC236}">
                <a16:creationId xmlns:a16="http://schemas.microsoft.com/office/drawing/2014/main" id="{34D24164-6909-FB9F-B7FA-C1E5ECC863C4}"/>
              </a:ext>
            </a:extLst>
          </p:cNvPr>
          <p:cNvSpPr txBox="1"/>
          <p:nvPr/>
        </p:nvSpPr>
        <p:spPr>
          <a:xfrm>
            <a:off x="550863" y="944880"/>
            <a:ext cx="5545137" cy="1908215"/>
          </a:xfrm>
          <a:prstGeom prst="rect">
            <a:avLst/>
          </a:prstGeom>
          <a:noFill/>
        </p:spPr>
        <p:txBody>
          <a:bodyPr wrap="square" rtlCol="0">
            <a:spAutoFit/>
          </a:bodyPr>
          <a:lstStyle/>
          <a:p>
            <a:pPr marL="285750" indent="-285750">
              <a:spcBef>
                <a:spcPts val="600"/>
              </a:spcBef>
              <a:spcAft>
                <a:spcPts val="600"/>
              </a:spcAft>
              <a:buFont typeface="Wingdings" panose="05000000000000000000" pitchFamily="2" charset="2"/>
              <a:buChar char="v"/>
            </a:pPr>
            <a:r>
              <a:rPr lang="en-US" dirty="0">
                <a:solidFill>
                  <a:srgbClr val="FFFF00"/>
                </a:solidFill>
              </a:rPr>
              <a:t>Avg delivery times vary by vehicle: Truck B is highest (155 min), Bike C mid (152 min), Van A lowest (149 min), indicating vehicle choice impacts route duration</a:t>
            </a:r>
          </a:p>
          <a:p>
            <a:pPr marL="285750" indent="-285750">
              <a:spcBef>
                <a:spcPts val="600"/>
              </a:spcBef>
              <a:spcAft>
                <a:spcPts val="600"/>
              </a:spcAft>
              <a:buFont typeface="Wingdings" panose="05000000000000000000" pitchFamily="2" charset="2"/>
              <a:buChar char="v"/>
            </a:pPr>
            <a:r>
              <a:rPr lang="en-US" dirty="0">
                <a:solidFill>
                  <a:srgbClr val="FFFF00"/>
                </a:solidFill>
              </a:rPr>
              <a:t>Avg delays are similar across vehicle types (≈14 – 15n min), so longer delivery times for trucks are not accompanied by proportionally higher delays</a:t>
            </a:r>
          </a:p>
        </p:txBody>
      </p:sp>
      <p:pic>
        <p:nvPicPr>
          <p:cNvPr id="8" name="Picture 7" descr="A chart of numbers and a number of vehicles">
            <a:extLst>
              <a:ext uri="{FF2B5EF4-FFF2-40B4-BE49-F238E27FC236}">
                <a16:creationId xmlns:a16="http://schemas.microsoft.com/office/drawing/2014/main" id="{85B445B2-7B99-419C-F321-54A29B54995F}"/>
              </a:ext>
            </a:extLst>
          </p:cNvPr>
          <p:cNvPicPr>
            <a:picLocks noChangeAspect="1"/>
          </p:cNvPicPr>
          <p:nvPr/>
        </p:nvPicPr>
        <p:blipFill>
          <a:blip r:embed="rId3"/>
          <a:stretch>
            <a:fillRect/>
          </a:stretch>
        </p:blipFill>
        <p:spPr>
          <a:xfrm>
            <a:off x="6311582" y="799872"/>
            <a:ext cx="5545137" cy="2629128"/>
          </a:xfrm>
          <a:prstGeom prst="rect">
            <a:avLst/>
          </a:prstGeom>
        </p:spPr>
      </p:pic>
      <p:sp>
        <p:nvSpPr>
          <p:cNvPr id="10" name="TextBox 9">
            <a:extLst>
              <a:ext uri="{FF2B5EF4-FFF2-40B4-BE49-F238E27FC236}">
                <a16:creationId xmlns:a16="http://schemas.microsoft.com/office/drawing/2014/main" id="{45F63C00-4568-C73E-4498-7E9D01588A50}"/>
              </a:ext>
            </a:extLst>
          </p:cNvPr>
          <p:cNvSpPr txBox="1"/>
          <p:nvPr/>
        </p:nvSpPr>
        <p:spPr>
          <a:xfrm>
            <a:off x="215582" y="3429000"/>
            <a:ext cx="4813618" cy="646331"/>
          </a:xfrm>
          <a:prstGeom prst="rect">
            <a:avLst/>
          </a:prstGeom>
          <a:noFill/>
        </p:spPr>
        <p:txBody>
          <a:bodyPr wrap="square">
            <a:spAutoFit/>
          </a:bodyPr>
          <a:lstStyle/>
          <a:p>
            <a:r>
              <a:rPr lang="en-US" sz="3600" dirty="0">
                <a:solidFill>
                  <a:srgbClr val="FFC000"/>
                </a:solidFill>
                <a:latin typeface="+mj-lt"/>
              </a:rPr>
              <a:t>Recommendations</a:t>
            </a:r>
          </a:p>
        </p:txBody>
      </p:sp>
      <p:sp>
        <p:nvSpPr>
          <p:cNvPr id="11" name="TextBox 10">
            <a:extLst>
              <a:ext uri="{FF2B5EF4-FFF2-40B4-BE49-F238E27FC236}">
                <a16:creationId xmlns:a16="http://schemas.microsoft.com/office/drawing/2014/main" id="{94C63911-4702-8E1E-3D25-146B720FAF11}"/>
              </a:ext>
            </a:extLst>
          </p:cNvPr>
          <p:cNvSpPr txBox="1"/>
          <p:nvPr/>
        </p:nvSpPr>
        <p:spPr>
          <a:xfrm>
            <a:off x="365760" y="4338320"/>
            <a:ext cx="11023600" cy="2523768"/>
          </a:xfrm>
          <a:prstGeom prst="rect">
            <a:avLst/>
          </a:prstGeom>
          <a:noFill/>
        </p:spPr>
        <p:txBody>
          <a:bodyPr wrap="square" rtlCol="0">
            <a:spAutoFit/>
          </a:bodyPr>
          <a:lstStyle/>
          <a:p>
            <a:pPr marL="285750" indent="-285750">
              <a:spcBef>
                <a:spcPts val="600"/>
              </a:spcBef>
              <a:spcAft>
                <a:spcPts val="600"/>
              </a:spcAft>
              <a:buFont typeface="Wingdings" panose="05000000000000000000" pitchFamily="2" charset="2"/>
              <a:buChar char="v"/>
            </a:pPr>
            <a:r>
              <a:rPr lang="en-US" dirty="0">
                <a:solidFill>
                  <a:srgbClr val="FFFF00"/>
                </a:solidFill>
              </a:rPr>
              <a:t>Prioritize Van A for short-haul and urban deliveries due to lower delivery and delay times</a:t>
            </a:r>
          </a:p>
          <a:p>
            <a:pPr marL="285750" indent="-285750">
              <a:spcBef>
                <a:spcPts val="600"/>
              </a:spcBef>
              <a:spcAft>
                <a:spcPts val="600"/>
              </a:spcAft>
              <a:buFont typeface="Wingdings" panose="05000000000000000000" pitchFamily="2" charset="2"/>
              <a:buChar char="v"/>
            </a:pPr>
            <a:r>
              <a:rPr lang="en-US" dirty="0">
                <a:solidFill>
                  <a:srgbClr val="FFFF00"/>
                </a:solidFill>
              </a:rPr>
              <a:t>Reassign Truck B to consolidated, long-haul routes where delivery time is less sensitive </a:t>
            </a:r>
          </a:p>
          <a:p>
            <a:pPr marL="285750" indent="-285750">
              <a:spcBef>
                <a:spcPts val="600"/>
              </a:spcBef>
              <a:spcAft>
                <a:spcPts val="600"/>
              </a:spcAft>
              <a:buFont typeface="Wingdings" panose="05000000000000000000" pitchFamily="2" charset="2"/>
              <a:buChar char="v"/>
            </a:pPr>
            <a:r>
              <a:rPr lang="en-US" dirty="0">
                <a:solidFill>
                  <a:srgbClr val="FFFF00"/>
                </a:solidFill>
              </a:rPr>
              <a:t>Limit Bike C usage to low-density zones or off-peak hours to reduce delay exposure </a:t>
            </a:r>
          </a:p>
          <a:p>
            <a:pPr marL="285750" indent="-285750">
              <a:spcBef>
                <a:spcPts val="600"/>
              </a:spcBef>
              <a:spcAft>
                <a:spcPts val="600"/>
              </a:spcAft>
              <a:buFont typeface="Wingdings" panose="05000000000000000000" pitchFamily="2" charset="2"/>
              <a:buChar char="v"/>
            </a:pPr>
            <a:r>
              <a:rPr lang="en-US" altLang="en-US" dirty="0">
                <a:solidFill>
                  <a:srgbClr val="FFFF00"/>
                </a:solidFill>
                <a:latin typeface="Arial" panose="020B0604020202020204" pitchFamily="34" charset="0"/>
              </a:rPr>
              <a:t>Explore hybrid delivery models (e.g., bike + van relay) for congested zones </a:t>
            </a:r>
          </a:p>
          <a:p>
            <a:pPr>
              <a:spcBef>
                <a:spcPts val="600"/>
              </a:spcBef>
              <a:spcAft>
                <a:spcPts val="600"/>
              </a:spcAft>
            </a:pPr>
            <a:endParaRPr lang="en-US" dirty="0">
              <a:solidFill>
                <a:srgbClr val="FFFF00"/>
              </a:solidFill>
            </a:endParaRPr>
          </a:p>
          <a:p>
            <a:pPr>
              <a:spcBef>
                <a:spcPts val="600"/>
              </a:spcBef>
              <a:spcAft>
                <a:spcPts val="600"/>
              </a:spcAft>
            </a:pPr>
            <a:endParaRPr lang="en-US" dirty="0">
              <a:solidFill>
                <a:srgbClr val="FFFF00"/>
              </a:solidFill>
            </a:endParaRPr>
          </a:p>
        </p:txBody>
      </p:sp>
    </p:spTree>
    <p:extLst>
      <p:ext uri="{BB962C8B-B14F-4D97-AF65-F5344CB8AC3E}">
        <p14:creationId xmlns:p14="http://schemas.microsoft.com/office/powerpoint/2010/main" val="2588537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BA864-B9BC-121C-5147-9142FE2306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7B998C-9A27-7B98-6E72-3E468A5D9C19}"/>
              </a:ext>
            </a:extLst>
          </p:cNvPr>
          <p:cNvSpPr>
            <a:spLocks noGrp="1"/>
          </p:cNvSpPr>
          <p:nvPr>
            <p:ph type="title"/>
          </p:nvPr>
        </p:nvSpPr>
        <p:spPr>
          <a:xfrm>
            <a:off x="550863" y="223864"/>
            <a:ext cx="1948497" cy="548296"/>
          </a:xfrm>
        </p:spPr>
        <p:txBody>
          <a:bodyPr>
            <a:normAutofit fontScale="90000"/>
          </a:bodyPr>
          <a:lstStyle/>
          <a:p>
            <a:r>
              <a:rPr lang="en-US" dirty="0">
                <a:solidFill>
                  <a:srgbClr val="FFC000"/>
                </a:solidFill>
              </a:rPr>
              <a:t>Insights</a:t>
            </a:r>
            <a:endParaRPr lang="en-US" dirty="0">
              <a:solidFill>
                <a:srgbClr val="FFFF00"/>
              </a:solidFill>
            </a:endParaRPr>
          </a:p>
        </p:txBody>
      </p:sp>
      <p:sp>
        <p:nvSpPr>
          <p:cNvPr id="10" name="TextBox 9">
            <a:extLst>
              <a:ext uri="{FF2B5EF4-FFF2-40B4-BE49-F238E27FC236}">
                <a16:creationId xmlns:a16="http://schemas.microsoft.com/office/drawing/2014/main" id="{EF88B53B-9E4A-2B84-E7AC-658869C0FFDD}"/>
              </a:ext>
            </a:extLst>
          </p:cNvPr>
          <p:cNvSpPr txBox="1"/>
          <p:nvPr/>
        </p:nvSpPr>
        <p:spPr>
          <a:xfrm>
            <a:off x="184731" y="3915519"/>
            <a:ext cx="4813618" cy="646331"/>
          </a:xfrm>
          <a:prstGeom prst="rect">
            <a:avLst/>
          </a:prstGeom>
          <a:noFill/>
        </p:spPr>
        <p:txBody>
          <a:bodyPr wrap="square">
            <a:spAutoFit/>
          </a:bodyPr>
          <a:lstStyle/>
          <a:p>
            <a:r>
              <a:rPr lang="en-US" sz="3600" dirty="0">
                <a:solidFill>
                  <a:srgbClr val="FFC000"/>
                </a:solidFill>
                <a:latin typeface="+mj-lt"/>
              </a:rPr>
              <a:t>Recommendations</a:t>
            </a:r>
          </a:p>
        </p:txBody>
      </p:sp>
      <p:pic>
        <p:nvPicPr>
          <p:cNvPr id="4" name="Picture 3" descr="A screen shot of a black background with yellow circles and text&#10;&#10;AI-generated content may be incorrect.">
            <a:extLst>
              <a:ext uri="{FF2B5EF4-FFF2-40B4-BE49-F238E27FC236}">
                <a16:creationId xmlns:a16="http://schemas.microsoft.com/office/drawing/2014/main" id="{DCD4EB56-BE8A-E2B0-AF9E-AE04ABFDFA38}"/>
              </a:ext>
            </a:extLst>
          </p:cNvPr>
          <p:cNvPicPr>
            <a:picLocks noChangeAspect="1"/>
          </p:cNvPicPr>
          <p:nvPr/>
        </p:nvPicPr>
        <p:blipFill>
          <a:blip r:embed="rId3"/>
          <a:stretch>
            <a:fillRect/>
          </a:stretch>
        </p:blipFill>
        <p:spPr>
          <a:xfrm>
            <a:off x="7152641" y="498012"/>
            <a:ext cx="4338320" cy="3316070"/>
          </a:xfrm>
          <a:prstGeom prst="rect">
            <a:avLst/>
          </a:prstGeom>
        </p:spPr>
      </p:pic>
      <p:sp>
        <p:nvSpPr>
          <p:cNvPr id="15" name="TextBox 14">
            <a:extLst>
              <a:ext uri="{FF2B5EF4-FFF2-40B4-BE49-F238E27FC236}">
                <a16:creationId xmlns:a16="http://schemas.microsoft.com/office/drawing/2014/main" id="{AA9E1ED6-065F-E5C2-FE74-900AF173A07D}"/>
              </a:ext>
            </a:extLst>
          </p:cNvPr>
          <p:cNvSpPr txBox="1"/>
          <p:nvPr/>
        </p:nvSpPr>
        <p:spPr>
          <a:xfrm>
            <a:off x="701040" y="883920"/>
            <a:ext cx="6055360" cy="3677930"/>
          </a:xfrm>
          <a:prstGeom prst="rect">
            <a:avLst/>
          </a:prstGeom>
          <a:noFill/>
        </p:spPr>
        <p:txBody>
          <a:bodyPr wrap="square" rtlCol="0">
            <a:spAutoFit/>
          </a:bodyPr>
          <a:lstStyle/>
          <a:p>
            <a:pPr marL="285750" lvl="0" indent="-285750" eaLnBrk="0" fontAlgn="base" hangingPunct="0">
              <a:spcBef>
                <a:spcPts val="600"/>
              </a:spcBef>
              <a:spcAft>
                <a:spcPts val="600"/>
              </a:spcAft>
              <a:buFont typeface="Wingdings" panose="05000000000000000000" pitchFamily="2" charset="2"/>
              <a:buChar char="v"/>
            </a:pPr>
            <a:r>
              <a:rPr lang="en-US" altLang="en-US" dirty="0">
                <a:solidFill>
                  <a:srgbClr val="FFFF00"/>
                </a:solidFill>
                <a:latin typeface="Arial" panose="020B0604020202020204" pitchFamily="34" charset="0"/>
              </a:rPr>
              <a:t>Only 3% of deliveries were on time this is a major operational concern. </a:t>
            </a:r>
          </a:p>
          <a:p>
            <a:pPr marL="285750" lvl="0" indent="-285750" eaLnBrk="0" fontAlgn="base" hangingPunct="0">
              <a:spcBef>
                <a:spcPts val="600"/>
              </a:spcBef>
              <a:spcAft>
                <a:spcPts val="600"/>
              </a:spcAft>
              <a:buFont typeface="Wingdings" panose="05000000000000000000" pitchFamily="2" charset="2"/>
              <a:buChar char="v"/>
            </a:pPr>
            <a:r>
              <a:rPr lang="en-US" altLang="en-US" dirty="0">
                <a:solidFill>
                  <a:srgbClr val="FFFF00"/>
                </a:solidFill>
                <a:latin typeface="Arial" panose="020B0604020202020204" pitchFamily="34" charset="0"/>
              </a:rPr>
              <a:t>97% of deliveries were delayed, indicating systemic inefficiencies across routes and dispatch.</a:t>
            </a:r>
          </a:p>
          <a:p>
            <a:pPr marL="285750" lvl="0" indent="-285750" eaLnBrk="0" fontAlgn="base" hangingPunct="0">
              <a:spcBef>
                <a:spcPts val="600"/>
              </a:spcBef>
              <a:spcAft>
                <a:spcPts val="600"/>
              </a:spcAft>
              <a:buFont typeface="Wingdings" panose="05000000000000000000" pitchFamily="2" charset="2"/>
              <a:buChar char="v"/>
            </a:pPr>
            <a:r>
              <a:rPr lang="en-US" dirty="0">
                <a:solidFill>
                  <a:srgbClr val="FFFF00"/>
                </a:solidFill>
              </a:rPr>
              <a:t>High delay rate likely correlates with elevated negative feedback and reduced trust.</a:t>
            </a:r>
          </a:p>
          <a:p>
            <a:pPr marL="285750" indent="-285750" eaLnBrk="0" fontAlgn="base" hangingPunct="0">
              <a:spcBef>
                <a:spcPts val="600"/>
              </a:spcBef>
              <a:spcAft>
                <a:spcPts val="600"/>
              </a:spcAft>
              <a:buFont typeface="Wingdings" panose="05000000000000000000" pitchFamily="2" charset="2"/>
              <a:buChar char="v"/>
            </a:pPr>
            <a:r>
              <a:rPr lang="en-US" altLang="en-US" dirty="0">
                <a:solidFill>
                  <a:srgbClr val="FFFF00"/>
                </a:solidFill>
                <a:latin typeface="Arial" panose="020B0604020202020204" pitchFamily="34" charset="0"/>
              </a:rPr>
              <a:t>Such a high delay percentage suggests issues in routing, driver performance, traffic forecasting, or dispatch timing </a:t>
            </a:r>
          </a:p>
          <a:p>
            <a:pPr marL="285750" lvl="0" indent="-285750" eaLnBrk="0" fontAlgn="base" hangingPunct="0">
              <a:spcBef>
                <a:spcPct val="0"/>
              </a:spcBef>
              <a:spcAft>
                <a:spcPct val="0"/>
              </a:spcAft>
              <a:buFont typeface="Wingdings" panose="05000000000000000000" pitchFamily="2" charset="2"/>
              <a:buChar char="v"/>
            </a:pPr>
            <a:endParaRPr lang="en-US" dirty="0">
              <a:solidFill>
                <a:srgbClr val="FFFF00"/>
              </a:solidFill>
            </a:endParaRPr>
          </a:p>
          <a:p>
            <a:pPr lvl="0" eaLnBrk="0" fontAlgn="base" hangingPunct="0">
              <a:spcBef>
                <a:spcPct val="0"/>
              </a:spcBef>
              <a:spcAft>
                <a:spcPct val="0"/>
              </a:spcAft>
            </a:pPr>
            <a:endParaRPr lang="en-US" dirty="0"/>
          </a:p>
        </p:txBody>
      </p:sp>
      <p:sp>
        <p:nvSpPr>
          <p:cNvPr id="17" name="Rectangle 5">
            <a:extLst>
              <a:ext uri="{FF2B5EF4-FFF2-40B4-BE49-F238E27FC236}">
                <a16:creationId xmlns:a16="http://schemas.microsoft.com/office/drawing/2014/main" id="{DBC6F940-07E3-F7FE-0B2B-7C9160761D64}"/>
              </a:ext>
            </a:extLst>
          </p:cNvPr>
          <p:cNvSpPr>
            <a:spLocks noChangeArrowheads="1"/>
          </p:cNvSpPr>
          <p:nvPr/>
        </p:nvSpPr>
        <p:spPr bwMode="auto">
          <a:xfrm>
            <a:off x="0" y="-323165"/>
            <a:ext cx="39305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 name="TextBox 20">
            <a:extLst>
              <a:ext uri="{FF2B5EF4-FFF2-40B4-BE49-F238E27FC236}">
                <a16:creationId xmlns:a16="http://schemas.microsoft.com/office/drawing/2014/main" id="{3FA690AE-49C4-F9AF-364B-4477FF038123}"/>
              </a:ext>
            </a:extLst>
          </p:cNvPr>
          <p:cNvSpPr txBox="1"/>
          <p:nvPr/>
        </p:nvSpPr>
        <p:spPr>
          <a:xfrm>
            <a:off x="701040" y="4765040"/>
            <a:ext cx="9916160" cy="1754326"/>
          </a:xfrm>
          <a:prstGeom prst="rect">
            <a:avLst/>
          </a:prstGeom>
          <a:noFill/>
        </p:spPr>
        <p:txBody>
          <a:bodyPr wrap="square" rtlCol="0">
            <a:spAutoFit/>
          </a:bodyPr>
          <a:lstStyle/>
          <a:p>
            <a:pPr marL="285750" indent="-285750">
              <a:buFont typeface="Wingdings" panose="05000000000000000000" pitchFamily="2" charset="2"/>
              <a:buChar char="v"/>
            </a:pPr>
            <a:r>
              <a:rPr lang="en-US" dirty="0">
                <a:solidFill>
                  <a:srgbClr val="FFFF00"/>
                </a:solidFill>
              </a:rPr>
              <a:t>Conduct root cause analysis on delay sources: route congestion, driver load, dispatch timing, and address quality.</a:t>
            </a:r>
          </a:p>
          <a:p>
            <a:pPr marL="285750" indent="-285750">
              <a:buFont typeface="Wingdings" panose="05000000000000000000" pitchFamily="2" charset="2"/>
              <a:buChar char="v"/>
            </a:pPr>
            <a:r>
              <a:rPr lang="en-US" dirty="0">
                <a:solidFill>
                  <a:srgbClr val="FFFF00"/>
                </a:solidFill>
              </a:rPr>
              <a:t>Implement dynamic routing with real-time traffic data and predictive ETAs.</a:t>
            </a:r>
          </a:p>
          <a:p>
            <a:pPr marL="285750" indent="-285750">
              <a:buFont typeface="Wingdings" panose="05000000000000000000" pitchFamily="2" charset="2"/>
              <a:buChar char="v"/>
            </a:pPr>
            <a:r>
              <a:rPr lang="en-US" dirty="0">
                <a:solidFill>
                  <a:srgbClr val="FFFF00"/>
                </a:solidFill>
              </a:rPr>
              <a:t>Introduce staggered dispatch windows to reduce peak-hour congestion.</a:t>
            </a:r>
          </a:p>
          <a:p>
            <a:pPr marL="285750" indent="-285750">
              <a:buFont typeface="Wingdings" panose="05000000000000000000" pitchFamily="2" charset="2"/>
              <a:buChar char="v"/>
            </a:pPr>
            <a:r>
              <a:rPr lang="en-US" altLang="en-US" dirty="0">
                <a:solidFill>
                  <a:srgbClr val="FFFF00"/>
                </a:solidFill>
                <a:latin typeface="Arial" panose="020B0604020202020204" pitchFamily="34" charset="0"/>
              </a:rPr>
              <a:t>Set daily delay thresholds and alert triggers for operations team. </a:t>
            </a:r>
          </a:p>
          <a:p>
            <a:endParaRPr lang="en-US" dirty="0"/>
          </a:p>
        </p:txBody>
      </p:sp>
    </p:spTree>
    <p:extLst>
      <p:ext uri="{BB962C8B-B14F-4D97-AF65-F5344CB8AC3E}">
        <p14:creationId xmlns:p14="http://schemas.microsoft.com/office/powerpoint/2010/main" val="2953694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7E5C0-5AF9-33B1-4869-792F937D29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51246D-A86F-0E0A-FBAC-C116F5E75E15}"/>
              </a:ext>
            </a:extLst>
          </p:cNvPr>
          <p:cNvSpPr>
            <a:spLocks noGrp="1"/>
          </p:cNvSpPr>
          <p:nvPr>
            <p:ph type="title"/>
          </p:nvPr>
        </p:nvSpPr>
        <p:spPr>
          <a:xfrm>
            <a:off x="550863" y="223864"/>
            <a:ext cx="1948497" cy="548296"/>
          </a:xfrm>
        </p:spPr>
        <p:txBody>
          <a:bodyPr>
            <a:normAutofit fontScale="90000"/>
          </a:bodyPr>
          <a:lstStyle/>
          <a:p>
            <a:r>
              <a:rPr lang="en-US" dirty="0">
                <a:solidFill>
                  <a:srgbClr val="FFC000"/>
                </a:solidFill>
              </a:rPr>
              <a:t>Insights</a:t>
            </a:r>
            <a:endParaRPr lang="en-US" dirty="0">
              <a:solidFill>
                <a:srgbClr val="FFFF00"/>
              </a:solidFill>
            </a:endParaRPr>
          </a:p>
        </p:txBody>
      </p:sp>
      <p:sp>
        <p:nvSpPr>
          <p:cNvPr id="10" name="TextBox 9">
            <a:extLst>
              <a:ext uri="{FF2B5EF4-FFF2-40B4-BE49-F238E27FC236}">
                <a16:creationId xmlns:a16="http://schemas.microsoft.com/office/drawing/2014/main" id="{954A59C6-0E4F-BB35-AB9F-57A684275609}"/>
              </a:ext>
            </a:extLst>
          </p:cNvPr>
          <p:cNvSpPr txBox="1"/>
          <p:nvPr/>
        </p:nvSpPr>
        <p:spPr>
          <a:xfrm>
            <a:off x="286331" y="3629462"/>
            <a:ext cx="4813618" cy="646331"/>
          </a:xfrm>
          <a:prstGeom prst="rect">
            <a:avLst/>
          </a:prstGeom>
          <a:noFill/>
        </p:spPr>
        <p:txBody>
          <a:bodyPr wrap="square">
            <a:spAutoFit/>
          </a:bodyPr>
          <a:lstStyle/>
          <a:p>
            <a:r>
              <a:rPr lang="en-US" sz="3600" dirty="0">
                <a:solidFill>
                  <a:srgbClr val="FFC000"/>
                </a:solidFill>
                <a:latin typeface="+mj-lt"/>
              </a:rPr>
              <a:t>Recommendations</a:t>
            </a:r>
          </a:p>
        </p:txBody>
      </p:sp>
      <p:sp>
        <p:nvSpPr>
          <p:cNvPr id="17" name="Rectangle 5">
            <a:extLst>
              <a:ext uri="{FF2B5EF4-FFF2-40B4-BE49-F238E27FC236}">
                <a16:creationId xmlns:a16="http://schemas.microsoft.com/office/drawing/2014/main" id="{EAFBE27C-BDD6-62FE-69C5-75E1E71B2FBC}"/>
              </a:ext>
            </a:extLst>
          </p:cNvPr>
          <p:cNvSpPr>
            <a:spLocks noChangeArrowheads="1"/>
          </p:cNvSpPr>
          <p:nvPr/>
        </p:nvSpPr>
        <p:spPr bwMode="auto">
          <a:xfrm>
            <a:off x="0" y="-323165"/>
            <a:ext cx="39305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descr="A screenshot of a graph">
            <a:extLst>
              <a:ext uri="{FF2B5EF4-FFF2-40B4-BE49-F238E27FC236}">
                <a16:creationId xmlns:a16="http://schemas.microsoft.com/office/drawing/2014/main" id="{AA33E139-FD85-4A03-E69C-BA2513D71E36}"/>
              </a:ext>
            </a:extLst>
          </p:cNvPr>
          <p:cNvPicPr>
            <a:picLocks noChangeAspect="1"/>
          </p:cNvPicPr>
          <p:nvPr/>
        </p:nvPicPr>
        <p:blipFill>
          <a:blip r:embed="rId3"/>
          <a:stretch>
            <a:fillRect/>
          </a:stretch>
        </p:blipFill>
        <p:spPr>
          <a:xfrm>
            <a:off x="6350000" y="320124"/>
            <a:ext cx="5664526" cy="3309337"/>
          </a:xfrm>
          <a:prstGeom prst="rect">
            <a:avLst/>
          </a:prstGeom>
        </p:spPr>
      </p:pic>
      <p:sp>
        <p:nvSpPr>
          <p:cNvPr id="8" name="TextBox 7">
            <a:extLst>
              <a:ext uri="{FF2B5EF4-FFF2-40B4-BE49-F238E27FC236}">
                <a16:creationId xmlns:a16="http://schemas.microsoft.com/office/drawing/2014/main" id="{6E727A51-5B93-28CF-983A-4B71EB9A1C57}"/>
              </a:ext>
            </a:extLst>
          </p:cNvPr>
          <p:cNvSpPr txBox="1"/>
          <p:nvPr/>
        </p:nvSpPr>
        <p:spPr>
          <a:xfrm>
            <a:off x="393056" y="642263"/>
            <a:ext cx="5956944" cy="3046988"/>
          </a:xfrm>
          <a:prstGeom prst="rect">
            <a:avLst/>
          </a:prstGeom>
          <a:noFill/>
        </p:spPr>
        <p:txBody>
          <a:bodyPr wrap="square">
            <a:spAutoFit/>
          </a:bodyPr>
          <a:lstStyle/>
          <a:p>
            <a:pPr marL="285750" marR="0" lvl="0" indent="-285750" algn="l" defTabSz="914400" rtl="0" eaLnBrk="0" fontAlgn="base" latinLnBrk="0" hangingPunct="0">
              <a:lnSpc>
                <a:spcPct val="100000"/>
              </a:lnSpc>
              <a:spcBef>
                <a:spcPts val="600"/>
              </a:spcBef>
              <a:spcAft>
                <a:spcPts val="600"/>
              </a:spcAft>
              <a:buClrTx/>
              <a:buSzTx/>
              <a:buFont typeface="Wingdings" panose="05000000000000000000" pitchFamily="2" charset="2"/>
              <a:buChar char="v"/>
              <a:tabLst/>
            </a:pPr>
            <a:r>
              <a:rPr kumimoji="0" lang="en-US" altLang="en-US" sz="1800" b="0" i="0" u="none" strike="noStrike" cap="none" normalizeH="0" baseline="0" dirty="0">
                <a:ln>
                  <a:noFill/>
                </a:ln>
                <a:solidFill>
                  <a:srgbClr val="FFFF00"/>
                </a:solidFill>
                <a:effectLst/>
                <a:latin typeface="Arial" panose="020B0604020202020204" pitchFamily="34" charset="0"/>
              </a:rPr>
              <a:t>Daily deliveries ranged from </a:t>
            </a:r>
            <a:r>
              <a:rPr kumimoji="0" lang="en-US" altLang="en-US" sz="1800" b="1" i="0" u="none" strike="noStrike" cap="none" normalizeH="0" baseline="0" dirty="0">
                <a:ln>
                  <a:noFill/>
                </a:ln>
                <a:solidFill>
                  <a:srgbClr val="FFFF00"/>
                </a:solidFill>
                <a:effectLst/>
                <a:latin typeface="Arial" panose="020B0604020202020204" pitchFamily="34" charset="0"/>
              </a:rPr>
              <a:t>148 to 156</a:t>
            </a:r>
            <a:r>
              <a:rPr kumimoji="0" lang="en-US" altLang="en-US" sz="1800" b="0" i="0" u="none" strike="noStrike" cap="none" normalizeH="0" baseline="0" dirty="0">
                <a:ln>
                  <a:noFill/>
                </a:ln>
                <a:solidFill>
                  <a:srgbClr val="FFFF00"/>
                </a:solidFill>
                <a:effectLst/>
                <a:latin typeface="Arial" panose="020B0604020202020204" pitchFamily="34" charset="0"/>
              </a:rPr>
              <a:t>, showing consistent throughput before forecasting began. Forecasted deliveries closely align with actuals, validating model accuracy. </a:t>
            </a:r>
          </a:p>
          <a:p>
            <a:pPr marL="285750" marR="0" lvl="0" indent="-285750" algn="l" defTabSz="914400" rtl="0" eaLnBrk="0" fontAlgn="base" latinLnBrk="0" hangingPunct="0">
              <a:lnSpc>
                <a:spcPct val="100000"/>
              </a:lnSpc>
              <a:spcBef>
                <a:spcPts val="600"/>
              </a:spcBef>
              <a:spcAft>
                <a:spcPts val="600"/>
              </a:spcAft>
              <a:buClrTx/>
              <a:buSzTx/>
              <a:buFont typeface="Wingdings" panose="05000000000000000000" pitchFamily="2" charset="2"/>
              <a:buChar char="v"/>
              <a:tabLst/>
            </a:pPr>
            <a:r>
              <a:rPr kumimoji="0" lang="en-US" altLang="en-US" sz="1800" b="0" i="0" u="none" strike="noStrike" cap="none" normalizeH="0" baseline="0" dirty="0">
                <a:ln>
                  <a:noFill/>
                </a:ln>
                <a:solidFill>
                  <a:srgbClr val="FFFF00"/>
                </a:solidFill>
                <a:effectLst/>
                <a:latin typeface="Arial" panose="020B0604020202020204" pitchFamily="34" charset="0"/>
              </a:rPr>
              <a:t>Forecast predicts sustained volume between </a:t>
            </a:r>
            <a:r>
              <a:rPr kumimoji="0" lang="en-US" altLang="en-US" sz="1800" b="1" i="0" u="none" strike="noStrike" cap="none" normalizeH="0" baseline="0" dirty="0">
                <a:ln>
                  <a:noFill/>
                </a:ln>
                <a:solidFill>
                  <a:srgbClr val="FFFF00"/>
                </a:solidFill>
                <a:effectLst/>
                <a:latin typeface="Arial" panose="020B0604020202020204" pitchFamily="34" charset="0"/>
              </a:rPr>
              <a:t>154 and 160</a:t>
            </a:r>
            <a:r>
              <a:rPr kumimoji="0" lang="en-US" altLang="en-US" sz="1800" b="0" i="0" u="none" strike="noStrike" cap="none" normalizeH="0" baseline="0" dirty="0">
                <a:ln>
                  <a:noFill/>
                </a:ln>
                <a:solidFill>
                  <a:srgbClr val="FFFF00"/>
                </a:solidFill>
                <a:effectLst/>
                <a:latin typeface="Arial" panose="020B0604020202020204" pitchFamily="34" charset="0"/>
              </a:rPr>
              <a:t>, indicating expected demand stability. </a:t>
            </a:r>
          </a:p>
          <a:p>
            <a:pPr marL="285750" marR="0" lvl="0" indent="-285750" algn="l" defTabSz="914400" rtl="0" eaLnBrk="0" fontAlgn="base" latinLnBrk="0" hangingPunct="0">
              <a:lnSpc>
                <a:spcPct val="100000"/>
              </a:lnSpc>
              <a:spcBef>
                <a:spcPts val="600"/>
              </a:spcBef>
              <a:spcAft>
                <a:spcPts val="600"/>
              </a:spcAft>
              <a:buClrTx/>
              <a:buSzTx/>
              <a:buFont typeface="Wingdings" panose="05000000000000000000" pitchFamily="2" charset="2"/>
              <a:buChar char="v"/>
              <a:tabLst/>
            </a:pPr>
            <a:r>
              <a:rPr kumimoji="0" lang="en-US" altLang="en-US" sz="1800" b="1" i="0" u="none" strike="noStrike" cap="none" normalizeH="0" baseline="0" dirty="0">
                <a:ln>
                  <a:noFill/>
                </a:ln>
                <a:solidFill>
                  <a:srgbClr val="FFFF00"/>
                </a:solidFill>
                <a:effectLst/>
                <a:latin typeface="Arial" panose="020B0604020202020204" pitchFamily="34" charset="0"/>
              </a:rPr>
              <a:t>Sept 12</a:t>
            </a:r>
            <a:r>
              <a:rPr kumimoji="0" lang="en-US" altLang="en-US" sz="1800" b="0" i="0" u="none" strike="noStrike" cap="none" normalizeH="0" baseline="0" dirty="0">
                <a:ln>
                  <a:noFill/>
                </a:ln>
                <a:solidFill>
                  <a:srgbClr val="FFFF00"/>
                </a:solidFill>
                <a:effectLst/>
                <a:latin typeface="Arial" panose="020B0604020202020204" pitchFamily="34" charset="0"/>
              </a:rPr>
              <a:t> reached </a:t>
            </a:r>
            <a:r>
              <a:rPr kumimoji="0" lang="en-US" altLang="en-US" sz="1800" b="1" i="0" u="none" strike="noStrike" cap="none" normalizeH="0" baseline="0" dirty="0">
                <a:ln>
                  <a:noFill/>
                </a:ln>
                <a:solidFill>
                  <a:srgbClr val="FFFF00"/>
                </a:solidFill>
                <a:effectLst/>
                <a:latin typeface="Arial" panose="020B0604020202020204" pitchFamily="34" charset="0"/>
              </a:rPr>
              <a:t>160 deliveries</a:t>
            </a:r>
            <a:r>
              <a:rPr kumimoji="0" lang="en-US" altLang="en-US" sz="1800" b="0" i="0" u="none" strike="noStrike" cap="none" normalizeH="0" baseline="0" dirty="0">
                <a:ln>
                  <a:noFill/>
                </a:ln>
                <a:solidFill>
                  <a:srgbClr val="FFFF00"/>
                </a:solidFill>
                <a:effectLst/>
                <a:latin typeface="Arial" panose="020B0604020202020204" pitchFamily="34" charset="0"/>
              </a:rPr>
              <a:t>, the highest in the period potential surge or optimized routing. </a:t>
            </a:r>
          </a:p>
          <a:p>
            <a:pPr marL="285750" marR="0" lvl="0" indent="-285750" algn="l" defTabSz="914400" rtl="0" eaLnBrk="0" fontAlgn="base" latinLnBrk="0" hangingPunct="0">
              <a:lnSpc>
                <a:spcPct val="100000"/>
              </a:lnSpc>
              <a:spcBef>
                <a:spcPts val="600"/>
              </a:spcBef>
              <a:spcAft>
                <a:spcPts val="600"/>
              </a:spcAft>
              <a:buClrTx/>
              <a:buSzTx/>
              <a:buFont typeface="Wingdings" panose="05000000000000000000" pitchFamily="2" charset="2"/>
              <a:buChar char="v"/>
              <a:tabLst/>
            </a:pPr>
            <a:r>
              <a:rPr kumimoji="0" lang="en-US" altLang="en-US" sz="1800" b="1" i="0" u="none" strike="noStrike" cap="none" normalizeH="0" baseline="0" dirty="0">
                <a:ln>
                  <a:noFill/>
                </a:ln>
                <a:solidFill>
                  <a:srgbClr val="FFFF00"/>
                </a:solidFill>
                <a:effectLst/>
                <a:latin typeface="Arial" panose="020B0604020202020204" pitchFamily="34" charset="0"/>
              </a:rPr>
              <a:t>Forecast Accuracy</a:t>
            </a:r>
            <a:r>
              <a:rPr kumimoji="0" lang="en-US" altLang="en-US" sz="1800" b="0" i="0" u="none" strike="noStrike" cap="none" normalizeH="0" baseline="0" dirty="0">
                <a:ln>
                  <a:noFill/>
                </a:ln>
                <a:solidFill>
                  <a:srgbClr val="FFFF00"/>
                </a:solidFill>
                <a:effectLst/>
                <a:latin typeface="Arial" panose="020B0604020202020204" pitchFamily="34" charset="0"/>
              </a:rPr>
              <a:t> </a:t>
            </a:r>
          </a:p>
        </p:txBody>
      </p:sp>
      <p:sp>
        <p:nvSpPr>
          <p:cNvPr id="11" name="TextBox 10">
            <a:extLst>
              <a:ext uri="{FF2B5EF4-FFF2-40B4-BE49-F238E27FC236}">
                <a16:creationId xmlns:a16="http://schemas.microsoft.com/office/drawing/2014/main" id="{661BFBF3-2E3D-2053-4064-208F58BB1FD0}"/>
              </a:ext>
            </a:extLst>
          </p:cNvPr>
          <p:cNvSpPr txBox="1"/>
          <p:nvPr/>
        </p:nvSpPr>
        <p:spPr>
          <a:xfrm>
            <a:off x="351260" y="4167995"/>
            <a:ext cx="10747429" cy="2369880"/>
          </a:xfrm>
          <a:prstGeom prst="rect">
            <a:avLst/>
          </a:prstGeom>
          <a:noFill/>
        </p:spPr>
        <p:txBody>
          <a:bodyPr wrap="square">
            <a:spAutoFit/>
          </a:bodyPr>
          <a:lstStyle/>
          <a:p>
            <a:pPr marL="285750" indent="-285750">
              <a:spcBef>
                <a:spcPts val="600"/>
              </a:spcBef>
              <a:spcAft>
                <a:spcPts val="600"/>
              </a:spcAft>
              <a:buFont typeface="Wingdings" panose="05000000000000000000" pitchFamily="2" charset="2"/>
              <a:buChar char="v"/>
            </a:pPr>
            <a:r>
              <a:rPr lang="en-US" dirty="0">
                <a:solidFill>
                  <a:srgbClr val="FFFF00"/>
                </a:solidFill>
              </a:rPr>
              <a:t>Use forecast data to pre-allocate drivers, vehicles, and routes for high-volume days.</a:t>
            </a:r>
          </a:p>
          <a:p>
            <a:pPr marL="285750" indent="-285750">
              <a:spcBef>
                <a:spcPts val="600"/>
              </a:spcBef>
              <a:spcAft>
                <a:spcPts val="600"/>
              </a:spcAft>
              <a:buFont typeface="Wingdings" panose="05000000000000000000" pitchFamily="2" charset="2"/>
              <a:buChar char="v"/>
            </a:pPr>
            <a:r>
              <a:rPr lang="en-US" dirty="0">
                <a:solidFill>
                  <a:srgbClr val="FFFF00"/>
                </a:solidFill>
              </a:rPr>
              <a:t>Align staffing and dispatch schedules with forecasted peaks (e.g., Sept 11).</a:t>
            </a:r>
          </a:p>
          <a:p>
            <a:pPr marL="285750" indent="-285750">
              <a:spcBef>
                <a:spcPts val="600"/>
              </a:spcBef>
              <a:spcAft>
                <a:spcPts val="600"/>
              </a:spcAft>
              <a:buFont typeface="Wingdings" panose="05000000000000000000" pitchFamily="2" charset="2"/>
              <a:buChar char="v"/>
            </a:pPr>
            <a:r>
              <a:rPr lang="en-US" dirty="0">
                <a:solidFill>
                  <a:srgbClr val="FFFF00"/>
                </a:solidFill>
              </a:rPr>
              <a:t>Investigate Sept 11 operations to replicate successful routing and load balancing.</a:t>
            </a:r>
          </a:p>
          <a:p>
            <a:pPr marL="285750" indent="-285750">
              <a:spcBef>
                <a:spcPts val="600"/>
              </a:spcBef>
              <a:spcAft>
                <a:spcPts val="600"/>
              </a:spcAft>
              <a:buFont typeface="Wingdings" panose="05000000000000000000" pitchFamily="2" charset="2"/>
              <a:buChar char="v"/>
            </a:pPr>
            <a:r>
              <a:rPr lang="en-US" dirty="0">
                <a:solidFill>
                  <a:srgbClr val="FFFF00"/>
                </a:solidFill>
              </a:rPr>
              <a:t>Address low-volume days (e.g., Sept 10) with flexible capacity or promotional incentives.</a:t>
            </a:r>
          </a:p>
          <a:p>
            <a:pPr marL="285750" indent="-285750">
              <a:spcBef>
                <a:spcPts val="600"/>
              </a:spcBef>
              <a:spcAft>
                <a:spcPts val="600"/>
              </a:spcAft>
              <a:buFont typeface="Wingdings" panose="05000000000000000000" pitchFamily="2" charset="2"/>
              <a:buChar char="v"/>
            </a:pPr>
            <a:r>
              <a:rPr lang="en-US" dirty="0">
                <a:solidFill>
                  <a:srgbClr val="FFFF00"/>
                </a:solidFill>
              </a:rPr>
              <a:t>Continue refining forecasting algorithms using historical delivery patterns and external factors (weather, traffic).</a:t>
            </a:r>
          </a:p>
        </p:txBody>
      </p:sp>
    </p:spTree>
    <p:extLst>
      <p:ext uri="{BB962C8B-B14F-4D97-AF65-F5344CB8AC3E}">
        <p14:creationId xmlns:p14="http://schemas.microsoft.com/office/powerpoint/2010/main" val="1166917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2A227-7E8C-36E5-8F2E-8061C82D2A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65CF04-DCFC-53EF-FF4E-760D84F25B89}"/>
              </a:ext>
            </a:extLst>
          </p:cNvPr>
          <p:cNvSpPr>
            <a:spLocks noGrp="1"/>
          </p:cNvSpPr>
          <p:nvPr>
            <p:ph type="title"/>
          </p:nvPr>
        </p:nvSpPr>
        <p:spPr>
          <a:xfrm>
            <a:off x="550863" y="223864"/>
            <a:ext cx="1948497" cy="548296"/>
          </a:xfrm>
        </p:spPr>
        <p:txBody>
          <a:bodyPr>
            <a:normAutofit fontScale="90000"/>
          </a:bodyPr>
          <a:lstStyle/>
          <a:p>
            <a:r>
              <a:rPr lang="en-US" dirty="0">
                <a:solidFill>
                  <a:srgbClr val="FFC000"/>
                </a:solidFill>
              </a:rPr>
              <a:t>Insights</a:t>
            </a:r>
            <a:endParaRPr lang="en-US" dirty="0">
              <a:solidFill>
                <a:srgbClr val="FFFF00"/>
              </a:solidFill>
            </a:endParaRPr>
          </a:p>
        </p:txBody>
      </p:sp>
      <p:sp>
        <p:nvSpPr>
          <p:cNvPr id="10" name="TextBox 9">
            <a:extLst>
              <a:ext uri="{FF2B5EF4-FFF2-40B4-BE49-F238E27FC236}">
                <a16:creationId xmlns:a16="http://schemas.microsoft.com/office/drawing/2014/main" id="{106DABED-2742-5C73-D093-10A3F756E9B5}"/>
              </a:ext>
            </a:extLst>
          </p:cNvPr>
          <p:cNvSpPr txBox="1"/>
          <p:nvPr/>
        </p:nvSpPr>
        <p:spPr>
          <a:xfrm>
            <a:off x="355600" y="3105834"/>
            <a:ext cx="4813618" cy="646331"/>
          </a:xfrm>
          <a:prstGeom prst="rect">
            <a:avLst/>
          </a:prstGeom>
          <a:noFill/>
        </p:spPr>
        <p:txBody>
          <a:bodyPr wrap="square">
            <a:spAutoFit/>
          </a:bodyPr>
          <a:lstStyle/>
          <a:p>
            <a:r>
              <a:rPr lang="en-US" sz="3600" dirty="0">
                <a:solidFill>
                  <a:srgbClr val="FFC000"/>
                </a:solidFill>
                <a:latin typeface="+mj-lt"/>
              </a:rPr>
              <a:t>Recommendations</a:t>
            </a:r>
          </a:p>
        </p:txBody>
      </p:sp>
      <p:sp>
        <p:nvSpPr>
          <p:cNvPr id="17" name="Rectangle 5">
            <a:extLst>
              <a:ext uri="{FF2B5EF4-FFF2-40B4-BE49-F238E27FC236}">
                <a16:creationId xmlns:a16="http://schemas.microsoft.com/office/drawing/2014/main" id="{BDBCE09B-AE2E-1862-D9E5-86C5196DDB0C}"/>
              </a:ext>
            </a:extLst>
          </p:cNvPr>
          <p:cNvSpPr>
            <a:spLocks noChangeArrowheads="1"/>
          </p:cNvSpPr>
          <p:nvPr/>
        </p:nvSpPr>
        <p:spPr bwMode="auto">
          <a:xfrm>
            <a:off x="0" y="-323165"/>
            <a:ext cx="39305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descr="A screenshot of a graph&#10;&#10;AI-generated content may be incorrect.">
            <a:extLst>
              <a:ext uri="{FF2B5EF4-FFF2-40B4-BE49-F238E27FC236}">
                <a16:creationId xmlns:a16="http://schemas.microsoft.com/office/drawing/2014/main" id="{F1880967-311C-5A8E-8BFB-46A4B61F4B21}"/>
              </a:ext>
            </a:extLst>
          </p:cNvPr>
          <p:cNvPicPr>
            <a:picLocks noChangeAspect="1"/>
          </p:cNvPicPr>
          <p:nvPr/>
        </p:nvPicPr>
        <p:blipFill>
          <a:blip r:embed="rId3"/>
          <a:stretch>
            <a:fillRect/>
          </a:stretch>
        </p:blipFill>
        <p:spPr>
          <a:xfrm>
            <a:off x="7620000" y="530834"/>
            <a:ext cx="4216400" cy="2761006"/>
          </a:xfrm>
          <a:prstGeom prst="rect">
            <a:avLst/>
          </a:prstGeom>
        </p:spPr>
      </p:pic>
      <p:sp>
        <p:nvSpPr>
          <p:cNvPr id="7" name="TextBox 6">
            <a:extLst>
              <a:ext uri="{FF2B5EF4-FFF2-40B4-BE49-F238E27FC236}">
                <a16:creationId xmlns:a16="http://schemas.microsoft.com/office/drawing/2014/main" id="{DA6C7C62-24C5-BA2F-DD6A-E3B4C2B895DA}"/>
              </a:ext>
            </a:extLst>
          </p:cNvPr>
          <p:cNvSpPr txBox="1"/>
          <p:nvPr/>
        </p:nvSpPr>
        <p:spPr>
          <a:xfrm>
            <a:off x="701040" y="492651"/>
            <a:ext cx="6197600" cy="2585323"/>
          </a:xfrm>
          <a:prstGeom prst="rect">
            <a:avLst/>
          </a:prstGeom>
          <a:noFill/>
        </p:spPr>
        <p:txBody>
          <a:bodyPr wrap="square">
            <a:spAutoFit/>
          </a:bodyPr>
          <a:lstStyle/>
          <a:p>
            <a:pPr marL="285750" indent="-285750">
              <a:buFont typeface="Wingdings" panose="05000000000000000000" pitchFamily="2" charset="2"/>
              <a:buChar char="v"/>
            </a:pPr>
            <a:endParaRPr lang="en-US" dirty="0">
              <a:solidFill>
                <a:srgbClr val="FFFF00"/>
              </a:solidFill>
            </a:endParaRPr>
          </a:p>
          <a:p>
            <a:pPr marL="285750" indent="-285750">
              <a:buFont typeface="Wingdings" panose="05000000000000000000" pitchFamily="2" charset="2"/>
              <a:buChar char="v"/>
            </a:pPr>
            <a:r>
              <a:rPr lang="en-US" dirty="0">
                <a:solidFill>
                  <a:srgbClr val="FFFF00"/>
                </a:solidFill>
              </a:rPr>
              <a:t>767 orders are still in progress, exceeding the number of completed orders (733).</a:t>
            </a:r>
          </a:p>
          <a:p>
            <a:pPr marL="285750" indent="-285750">
              <a:buFont typeface="Wingdings" panose="05000000000000000000" pitchFamily="2" charset="2"/>
              <a:buChar char="v"/>
            </a:pPr>
            <a:r>
              <a:rPr lang="en-US" dirty="0">
                <a:solidFill>
                  <a:srgbClr val="FFFF00"/>
                </a:solidFill>
              </a:rPr>
              <a:t>The difference of 34 orders suggests a backlog or delay in finalizing deliveries.</a:t>
            </a:r>
          </a:p>
          <a:p>
            <a:pPr marL="285750" indent="-285750">
              <a:buFont typeface="Wingdings" panose="05000000000000000000" pitchFamily="2" charset="2"/>
              <a:buChar char="v"/>
            </a:pPr>
            <a:r>
              <a:rPr lang="en-US" dirty="0">
                <a:solidFill>
                  <a:srgbClr val="FFFF00"/>
                </a:solidFill>
              </a:rPr>
              <a:t>Routes may be unevenly distributed or facing bottlenecks that slow down completion rates.</a:t>
            </a:r>
          </a:p>
          <a:p>
            <a:pPr marL="285750" indent="-285750">
              <a:buFont typeface="Wingdings" panose="05000000000000000000" pitchFamily="2" charset="2"/>
              <a:buChar char="v"/>
            </a:pPr>
            <a:r>
              <a:rPr lang="en-US" dirty="0">
                <a:solidFill>
                  <a:srgbClr val="FFFF00"/>
                </a:solidFill>
              </a:rPr>
              <a:t>High in-progress volume could lead to missed delivery windows and increased customer dissatisfaction.</a:t>
            </a:r>
          </a:p>
        </p:txBody>
      </p:sp>
      <p:sp>
        <p:nvSpPr>
          <p:cNvPr id="9" name="TextBox 8">
            <a:extLst>
              <a:ext uri="{FF2B5EF4-FFF2-40B4-BE49-F238E27FC236}">
                <a16:creationId xmlns:a16="http://schemas.microsoft.com/office/drawing/2014/main" id="{DFEC50A2-B85D-B5C3-55DD-5966D28889A8}"/>
              </a:ext>
            </a:extLst>
          </p:cNvPr>
          <p:cNvSpPr txBox="1"/>
          <p:nvPr/>
        </p:nvSpPr>
        <p:spPr>
          <a:xfrm>
            <a:off x="393056" y="3901440"/>
            <a:ext cx="10752464" cy="2092881"/>
          </a:xfrm>
          <a:prstGeom prst="rect">
            <a:avLst/>
          </a:prstGeom>
          <a:noFill/>
        </p:spPr>
        <p:txBody>
          <a:bodyPr wrap="square" rtlCol="0">
            <a:spAutoFit/>
          </a:bodyPr>
          <a:lstStyle/>
          <a:p>
            <a:pPr marL="285750" indent="-285750">
              <a:spcBef>
                <a:spcPts val="600"/>
              </a:spcBef>
              <a:spcAft>
                <a:spcPts val="600"/>
              </a:spcAft>
              <a:buFont typeface="Wingdings" panose="05000000000000000000" pitchFamily="2" charset="2"/>
              <a:buChar char="v"/>
            </a:pPr>
            <a:r>
              <a:rPr lang="en-US" dirty="0">
                <a:solidFill>
                  <a:srgbClr val="FFFF00"/>
                </a:solidFill>
              </a:rPr>
              <a:t>Reassign high-load routes to balance delivery volume and reduce in-progress backlog.</a:t>
            </a:r>
          </a:p>
          <a:p>
            <a:pPr marL="285750" indent="-285750">
              <a:spcBef>
                <a:spcPts val="600"/>
              </a:spcBef>
              <a:spcAft>
                <a:spcPts val="600"/>
              </a:spcAft>
              <a:buFont typeface="Wingdings" panose="05000000000000000000" pitchFamily="2" charset="2"/>
              <a:buChar char="v"/>
            </a:pPr>
            <a:r>
              <a:rPr lang="en-US" dirty="0">
                <a:solidFill>
                  <a:srgbClr val="FFFF00"/>
                </a:solidFill>
              </a:rPr>
              <a:t>Implement escalation protocols for orders pending beyond SLA thresholds.</a:t>
            </a:r>
          </a:p>
          <a:p>
            <a:pPr marL="285750" indent="-285750">
              <a:spcBef>
                <a:spcPts val="600"/>
              </a:spcBef>
              <a:spcAft>
                <a:spcPts val="600"/>
              </a:spcAft>
              <a:buFont typeface="Wingdings" panose="05000000000000000000" pitchFamily="2" charset="2"/>
              <a:buChar char="v"/>
            </a:pPr>
            <a:r>
              <a:rPr lang="en-US" dirty="0">
                <a:solidFill>
                  <a:srgbClr val="FFFF00"/>
                </a:solidFill>
              </a:rPr>
              <a:t>Track order status by route and driver daily to identify lagging zones.</a:t>
            </a:r>
          </a:p>
          <a:p>
            <a:pPr marL="285750" indent="-285750">
              <a:spcBef>
                <a:spcPts val="600"/>
              </a:spcBef>
              <a:spcAft>
                <a:spcPts val="600"/>
              </a:spcAft>
              <a:buFont typeface="Wingdings" panose="05000000000000000000" pitchFamily="2" charset="2"/>
              <a:buChar char="v"/>
            </a:pPr>
            <a:r>
              <a:rPr lang="en-US" dirty="0">
                <a:solidFill>
                  <a:srgbClr val="FFFF00"/>
                </a:solidFill>
              </a:rPr>
              <a:t>Set completion rate targets and monitor progress with dashboard KPIs.</a:t>
            </a:r>
          </a:p>
          <a:p>
            <a:pPr marL="285750" indent="-285750">
              <a:spcBef>
                <a:spcPts val="600"/>
              </a:spcBef>
              <a:spcAft>
                <a:spcPts val="600"/>
              </a:spcAft>
              <a:buFont typeface="Wingdings" panose="05000000000000000000" pitchFamily="2" charset="2"/>
              <a:buChar char="v"/>
            </a:pPr>
            <a:r>
              <a:rPr lang="en-US" dirty="0">
                <a:solidFill>
                  <a:srgbClr val="FFFF00"/>
                </a:solidFill>
              </a:rPr>
              <a:t>Prioritize aging in-progress orders for immediate resolution.</a:t>
            </a:r>
          </a:p>
        </p:txBody>
      </p:sp>
    </p:spTree>
    <p:extLst>
      <p:ext uri="{BB962C8B-B14F-4D97-AF65-F5344CB8AC3E}">
        <p14:creationId xmlns:p14="http://schemas.microsoft.com/office/powerpoint/2010/main" val="3595889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CA150-F0CF-E930-1525-3FDC73BA2E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469867-8F58-2222-20A7-1C624BE3CC16}"/>
              </a:ext>
            </a:extLst>
          </p:cNvPr>
          <p:cNvSpPr>
            <a:spLocks noGrp="1"/>
          </p:cNvSpPr>
          <p:nvPr>
            <p:ph type="title"/>
          </p:nvPr>
        </p:nvSpPr>
        <p:spPr>
          <a:xfrm>
            <a:off x="550863" y="223864"/>
            <a:ext cx="1948497" cy="548296"/>
          </a:xfrm>
        </p:spPr>
        <p:txBody>
          <a:bodyPr>
            <a:normAutofit fontScale="90000"/>
          </a:bodyPr>
          <a:lstStyle/>
          <a:p>
            <a:r>
              <a:rPr lang="en-US" dirty="0">
                <a:solidFill>
                  <a:srgbClr val="FFC000"/>
                </a:solidFill>
              </a:rPr>
              <a:t>Insights</a:t>
            </a:r>
            <a:endParaRPr lang="en-US" dirty="0">
              <a:solidFill>
                <a:srgbClr val="FFFF00"/>
              </a:solidFill>
            </a:endParaRPr>
          </a:p>
        </p:txBody>
      </p:sp>
      <p:sp>
        <p:nvSpPr>
          <p:cNvPr id="10" name="TextBox 9">
            <a:extLst>
              <a:ext uri="{FF2B5EF4-FFF2-40B4-BE49-F238E27FC236}">
                <a16:creationId xmlns:a16="http://schemas.microsoft.com/office/drawing/2014/main" id="{8ABF0CAA-C6E3-EC49-25A9-2B727591C01D}"/>
              </a:ext>
            </a:extLst>
          </p:cNvPr>
          <p:cNvSpPr txBox="1"/>
          <p:nvPr/>
        </p:nvSpPr>
        <p:spPr>
          <a:xfrm>
            <a:off x="314900" y="3429000"/>
            <a:ext cx="4813618" cy="646331"/>
          </a:xfrm>
          <a:prstGeom prst="rect">
            <a:avLst/>
          </a:prstGeom>
          <a:noFill/>
        </p:spPr>
        <p:txBody>
          <a:bodyPr wrap="square">
            <a:spAutoFit/>
          </a:bodyPr>
          <a:lstStyle/>
          <a:p>
            <a:r>
              <a:rPr lang="en-US" sz="3600" dirty="0">
                <a:solidFill>
                  <a:srgbClr val="FFC000"/>
                </a:solidFill>
                <a:latin typeface="+mj-lt"/>
              </a:rPr>
              <a:t>Recommendations</a:t>
            </a:r>
          </a:p>
        </p:txBody>
      </p:sp>
      <p:sp>
        <p:nvSpPr>
          <p:cNvPr id="17" name="Rectangle 5">
            <a:extLst>
              <a:ext uri="{FF2B5EF4-FFF2-40B4-BE49-F238E27FC236}">
                <a16:creationId xmlns:a16="http://schemas.microsoft.com/office/drawing/2014/main" id="{DDB06A40-92D6-8AD0-6A10-504B856052F1}"/>
              </a:ext>
            </a:extLst>
          </p:cNvPr>
          <p:cNvSpPr>
            <a:spLocks noChangeArrowheads="1"/>
          </p:cNvSpPr>
          <p:nvPr/>
        </p:nvSpPr>
        <p:spPr bwMode="auto">
          <a:xfrm>
            <a:off x="0" y="-323165"/>
            <a:ext cx="39305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descr="A graph of yellow bars&#10;&#10;AI-generated content may be incorrect.">
            <a:extLst>
              <a:ext uri="{FF2B5EF4-FFF2-40B4-BE49-F238E27FC236}">
                <a16:creationId xmlns:a16="http://schemas.microsoft.com/office/drawing/2014/main" id="{1AA2171D-BFB5-432F-5C34-71600EF89AF9}"/>
              </a:ext>
            </a:extLst>
          </p:cNvPr>
          <p:cNvPicPr>
            <a:picLocks noChangeAspect="1"/>
          </p:cNvPicPr>
          <p:nvPr/>
        </p:nvPicPr>
        <p:blipFill>
          <a:blip r:embed="rId3"/>
          <a:stretch>
            <a:fillRect/>
          </a:stretch>
        </p:blipFill>
        <p:spPr>
          <a:xfrm>
            <a:off x="6539916" y="498012"/>
            <a:ext cx="5387923" cy="2607822"/>
          </a:xfrm>
          <a:prstGeom prst="rect">
            <a:avLst/>
          </a:prstGeom>
        </p:spPr>
      </p:pic>
      <p:sp>
        <p:nvSpPr>
          <p:cNvPr id="11" name="TextBox 10">
            <a:extLst>
              <a:ext uri="{FF2B5EF4-FFF2-40B4-BE49-F238E27FC236}">
                <a16:creationId xmlns:a16="http://schemas.microsoft.com/office/drawing/2014/main" id="{3AB0F091-2F78-8EB9-DC53-333FA1325A08}"/>
              </a:ext>
            </a:extLst>
          </p:cNvPr>
          <p:cNvSpPr txBox="1"/>
          <p:nvPr/>
        </p:nvSpPr>
        <p:spPr>
          <a:xfrm>
            <a:off x="393056" y="692506"/>
            <a:ext cx="6068704" cy="2862322"/>
          </a:xfrm>
          <a:prstGeom prst="rect">
            <a:avLst/>
          </a:prstGeom>
          <a:noFill/>
        </p:spPr>
        <p:txBody>
          <a:bodyPr wrap="square">
            <a:spAutoFit/>
          </a:bodyPr>
          <a:lstStyle/>
          <a:p>
            <a:pPr marL="285750" indent="-285750">
              <a:buFont typeface="Wingdings" panose="05000000000000000000" pitchFamily="2" charset="2"/>
              <a:buChar char="v"/>
            </a:pPr>
            <a:r>
              <a:rPr lang="en-US" dirty="0">
                <a:solidFill>
                  <a:srgbClr val="FFFF00"/>
                </a:solidFill>
              </a:rPr>
              <a:t>Average delivery delays range from 51 to 79 minutes, well above acceptable thresholds.</a:t>
            </a:r>
          </a:p>
          <a:p>
            <a:pPr marL="285750" indent="-285750">
              <a:buFont typeface="Wingdings" panose="05000000000000000000" pitchFamily="2" charset="2"/>
              <a:buChar char="v"/>
            </a:pPr>
            <a:r>
              <a:rPr lang="en-US" dirty="0">
                <a:solidFill>
                  <a:srgbClr val="FFFF00"/>
                </a:solidFill>
              </a:rPr>
              <a:t>Delay reached 79 minutes, with 15 negative sentiment reports  highest combined impact.</a:t>
            </a:r>
          </a:p>
          <a:p>
            <a:pPr marL="285750" indent="-285750">
              <a:buFont typeface="Wingdings" panose="05000000000000000000" pitchFamily="2" charset="2"/>
              <a:buChar char="v"/>
            </a:pPr>
            <a:r>
              <a:rPr lang="en-US" dirty="0">
                <a:solidFill>
                  <a:srgbClr val="FFFF00"/>
                </a:solidFill>
              </a:rPr>
              <a:t>Daily negative feedback remains steady between 13 and 16, indicating persistent customer dissatisfaction.</a:t>
            </a:r>
          </a:p>
          <a:p>
            <a:pPr marL="285750" indent="-285750">
              <a:buFont typeface="Wingdings" panose="05000000000000000000" pitchFamily="2" charset="2"/>
              <a:buChar char="v"/>
            </a:pPr>
            <a:r>
              <a:rPr lang="en-US" dirty="0">
                <a:solidFill>
                  <a:srgbClr val="FFFF00"/>
                </a:solidFill>
              </a:rPr>
              <a:t>Days with higher delays (Sept 3, 4, 6) align with spikes in negative sentiment, confirming delivery time as a key driver of customer experience.</a:t>
            </a:r>
          </a:p>
          <a:p>
            <a:r>
              <a:rPr lang="en-US" dirty="0"/>
              <a:t>• 	</a:t>
            </a:r>
          </a:p>
        </p:txBody>
      </p:sp>
      <p:sp>
        <p:nvSpPr>
          <p:cNvPr id="13" name="TextBox 12">
            <a:extLst>
              <a:ext uri="{FF2B5EF4-FFF2-40B4-BE49-F238E27FC236}">
                <a16:creationId xmlns:a16="http://schemas.microsoft.com/office/drawing/2014/main" id="{D279192C-1E89-1176-9851-57C0676849C8}"/>
              </a:ext>
            </a:extLst>
          </p:cNvPr>
          <p:cNvSpPr txBox="1"/>
          <p:nvPr/>
        </p:nvSpPr>
        <p:spPr>
          <a:xfrm>
            <a:off x="550863" y="4213830"/>
            <a:ext cx="10929936" cy="2092881"/>
          </a:xfrm>
          <a:prstGeom prst="rect">
            <a:avLst/>
          </a:prstGeom>
          <a:noFill/>
        </p:spPr>
        <p:txBody>
          <a:bodyPr wrap="square">
            <a:spAutoFit/>
          </a:bodyPr>
          <a:lstStyle/>
          <a:p>
            <a:pPr marL="285750" indent="-285750">
              <a:spcBef>
                <a:spcPts val="600"/>
              </a:spcBef>
              <a:spcAft>
                <a:spcPts val="600"/>
              </a:spcAft>
              <a:buFont typeface="Wingdings" panose="05000000000000000000" pitchFamily="2" charset="2"/>
              <a:buChar char="v"/>
            </a:pPr>
            <a:r>
              <a:rPr lang="en-US" dirty="0">
                <a:solidFill>
                  <a:srgbClr val="FFFF00"/>
                </a:solidFill>
              </a:rPr>
              <a:t>Set target to reduce average delivery delay to ≤ 30 minutes within 30 days.</a:t>
            </a:r>
          </a:p>
          <a:p>
            <a:pPr marL="285750" indent="-285750">
              <a:spcBef>
                <a:spcPts val="600"/>
              </a:spcBef>
              <a:spcAft>
                <a:spcPts val="600"/>
              </a:spcAft>
              <a:buFont typeface="Wingdings" panose="05000000000000000000" pitchFamily="2" charset="2"/>
              <a:buChar char="v"/>
            </a:pPr>
            <a:r>
              <a:rPr lang="en-US" dirty="0">
                <a:solidFill>
                  <a:srgbClr val="FFFF00"/>
                </a:solidFill>
              </a:rPr>
              <a:t>Investigate root causes of peak delay days (e.g., Sept 3, 4, 6) — route congestion, staffing, dispatch timing.</a:t>
            </a:r>
          </a:p>
          <a:p>
            <a:pPr marL="285750" indent="-285750">
              <a:spcBef>
                <a:spcPts val="600"/>
              </a:spcBef>
              <a:spcAft>
                <a:spcPts val="600"/>
              </a:spcAft>
              <a:buFont typeface="Wingdings" panose="05000000000000000000" pitchFamily="2" charset="2"/>
              <a:buChar char="v"/>
            </a:pPr>
            <a:r>
              <a:rPr lang="en-US" dirty="0">
                <a:solidFill>
                  <a:srgbClr val="FFFF00"/>
                </a:solidFill>
              </a:rPr>
              <a:t>Introduce dynamic routing and real-time traffic alerts to improve delivery speed.</a:t>
            </a:r>
          </a:p>
          <a:p>
            <a:pPr marL="285750" indent="-285750">
              <a:spcBef>
                <a:spcPts val="600"/>
              </a:spcBef>
              <a:spcAft>
                <a:spcPts val="600"/>
              </a:spcAft>
              <a:buFont typeface="Wingdings" panose="05000000000000000000" pitchFamily="2" charset="2"/>
              <a:buChar char="v"/>
            </a:pPr>
            <a:r>
              <a:rPr lang="en-US" dirty="0">
                <a:solidFill>
                  <a:srgbClr val="FFFF00"/>
                </a:solidFill>
              </a:rPr>
              <a:t>Launch proactive communication for delayed deliveries (ETA updates, apology messages).</a:t>
            </a:r>
          </a:p>
          <a:p>
            <a:pPr marL="285750" indent="-285750">
              <a:spcBef>
                <a:spcPts val="600"/>
              </a:spcBef>
              <a:spcAft>
                <a:spcPts val="600"/>
              </a:spcAft>
              <a:buFont typeface="Wingdings" panose="05000000000000000000" pitchFamily="2" charset="2"/>
              <a:buChar char="v"/>
            </a:pPr>
            <a:r>
              <a:rPr lang="en-US" dirty="0">
                <a:solidFill>
                  <a:srgbClr val="FFFF00"/>
                </a:solidFill>
              </a:rPr>
              <a:t>Implement service recovery policies: auto-credit, priority redelivery, or loyalty incentives.</a:t>
            </a:r>
          </a:p>
        </p:txBody>
      </p:sp>
    </p:spTree>
    <p:extLst>
      <p:ext uri="{BB962C8B-B14F-4D97-AF65-F5344CB8AC3E}">
        <p14:creationId xmlns:p14="http://schemas.microsoft.com/office/powerpoint/2010/main" val="1453833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6D2F2-2D64-5D8C-D936-47DBD88A06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554BDA-430A-5098-9BDA-71349008280A}"/>
              </a:ext>
            </a:extLst>
          </p:cNvPr>
          <p:cNvSpPr>
            <a:spLocks noGrp="1"/>
          </p:cNvSpPr>
          <p:nvPr>
            <p:ph type="title"/>
          </p:nvPr>
        </p:nvSpPr>
        <p:spPr>
          <a:xfrm>
            <a:off x="550863" y="223864"/>
            <a:ext cx="1948497" cy="548296"/>
          </a:xfrm>
        </p:spPr>
        <p:txBody>
          <a:bodyPr>
            <a:normAutofit fontScale="90000"/>
          </a:bodyPr>
          <a:lstStyle/>
          <a:p>
            <a:r>
              <a:rPr lang="en-US" dirty="0">
                <a:solidFill>
                  <a:srgbClr val="FFC000"/>
                </a:solidFill>
              </a:rPr>
              <a:t>Insights</a:t>
            </a:r>
            <a:endParaRPr lang="en-US" dirty="0">
              <a:solidFill>
                <a:srgbClr val="FFFF00"/>
              </a:solidFill>
            </a:endParaRPr>
          </a:p>
        </p:txBody>
      </p:sp>
      <p:sp>
        <p:nvSpPr>
          <p:cNvPr id="10" name="TextBox 9">
            <a:extLst>
              <a:ext uri="{FF2B5EF4-FFF2-40B4-BE49-F238E27FC236}">
                <a16:creationId xmlns:a16="http://schemas.microsoft.com/office/drawing/2014/main" id="{40DB470F-BAA2-7005-12D5-2BA778D2902E}"/>
              </a:ext>
            </a:extLst>
          </p:cNvPr>
          <p:cNvSpPr txBox="1"/>
          <p:nvPr/>
        </p:nvSpPr>
        <p:spPr>
          <a:xfrm>
            <a:off x="393056" y="3354725"/>
            <a:ext cx="4813618" cy="646331"/>
          </a:xfrm>
          <a:prstGeom prst="rect">
            <a:avLst/>
          </a:prstGeom>
          <a:noFill/>
        </p:spPr>
        <p:txBody>
          <a:bodyPr wrap="square">
            <a:spAutoFit/>
          </a:bodyPr>
          <a:lstStyle/>
          <a:p>
            <a:r>
              <a:rPr lang="en-US" sz="3600" dirty="0">
                <a:solidFill>
                  <a:srgbClr val="FFC000"/>
                </a:solidFill>
                <a:latin typeface="+mj-lt"/>
              </a:rPr>
              <a:t>Recommendations</a:t>
            </a:r>
          </a:p>
        </p:txBody>
      </p:sp>
      <p:sp>
        <p:nvSpPr>
          <p:cNvPr id="17" name="Rectangle 5">
            <a:extLst>
              <a:ext uri="{FF2B5EF4-FFF2-40B4-BE49-F238E27FC236}">
                <a16:creationId xmlns:a16="http://schemas.microsoft.com/office/drawing/2014/main" id="{82292A08-1D43-FFEA-D7E8-E205C079DBC0}"/>
              </a:ext>
            </a:extLst>
          </p:cNvPr>
          <p:cNvSpPr>
            <a:spLocks noChangeArrowheads="1"/>
          </p:cNvSpPr>
          <p:nvPr/>
        </p:nvSpPr>
        <p:spPr bwMode="auto">
          <a:xfrm>
            <a:off x="0" y="-323165"/>
            <a:ext cx="39305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CE5A3AEE-ED5C-138F-B856-5ACD1A029382}"/>
              </a:ext>
            </a:extLst>
          </p:cNvPr>
          <p:cNvSpPr txBox="1"/>
          <p:nvPr/>
        </p:nvSpPr>
        <p:spPr>
          <a:xfrm>
            <a:off x="225965" y="692478"/>
            <a:ext cx="6919020" cy="2616101"/>
          </a:xfrm>
          <a:prstGeom prst="rect">
            <a:avLst/>
          </a:prstGeom>
          <a:noFill/>
        </p:spPr>
        <p:txBody>
          <a:bodyPr wrap="square">
            <a:spAutoFit/>
          </a:bodyPr>
          <a:lstStyle/>
          <a:p>
            <a:pPr marL="285750" indent="-285750">
              <a:spcBef>
                <a:spcPts val="600"/>
              </a:spcBef>
              <a:spcAft>
                <a:spcPts val="600"/>
              </a:spcAft>
              <a:buFont typeface="Wingdings" panose="05000000000000000000" pitchFamily="2" charset="2"/>
              <a:buChar char="v"/>
            </a:pPr>
            <a:r>
              <a:rPr lang="en-US" dirty="0">
                <a:solidFill>
                  <a:srgbClr val="FFFF00"/>
                </a:solidFill>
              </a:rPr>
              <a:t>Negative feedback is largest segment (529), slightly higher than Neutral (490) and Positive (481), indicating overall sentiment skews negative</a:t>
            </a:r>
          </a:p>
          <a:p>
            <a:pPr marL="285750" indent="-285750">
              <a:spcBef>
                <a:spcPts val="600"/>
              </a:spcBef>
              <a:spcAft>
                <a:spcPts val="600"/>
              </a:spcAft>
              <a:buFont typeface="Wingdings" panose="05000000000000000000" pitchFamily="2" charset="2"/>
              <a:buChar char="v"/>
            </a:pPr>
            <a:r>
              <a:rPr lang="en-US" dirty="0">
                <a:solidFill>
                  <a:srgbClr val="FFFF00"/>
                </a:solidFill>
              </a:rPr>
              <a:t>The distribution is relatively balanced across categories, but the negative category being highest signals an opportunity to reduce issues driving complaints</a:t>
            </a:r>
          </a:p>
          <a:p>
            <a:pPr marL="285750" indent="-285750">
              <a:spcBef>
                <a:spcPts val="600"/>
              </a:spcBef>
              <a:spcAft>
                <a:spcPts val="600"/>
              </a:spcAft>
              <a:buFont typeface="Wingdings" panose="05000000000000000000" pitchFamily="2" charset="2"/>
              <a:buChar char="v"/>
            </a:pPr>
            <a:r>
              <a:rPr lang="en-US" dirty="0">
                <a:solidFill>
                  <a:srgbClr val="FFFF00"/>
                </a:solidFill>
              </a:rPr>
              <a:t>Negative feedback exceeds Positive by 48 responses, revealing a perception gap in service quality.</a:t>
            </a:r>
          </a:p>
        </p:txBody>
      </p:sp>
      <p:pic>
        <p:nvPicPr>
          <p:cNvPr id="9" name="Picture 8" descr="A yellow rectangular boxes with text&#10;&#10;AI-generated content may be incorrect.">
            <a:extLst>
              <a:ext uri="{FF2B5EF4-FFF2-40B4-BE49-F238E27FC236}">
                <a16:creationId xmlns:a16="http://schemas.microsoft.com/office/drawing/2014/main" id="{466553C6-0C6B-8BFB-127A-CB3BC00C2C7B}"/>
              </a:ext>
            </a:extLst>
          </p:cNvPr>
          <p:cNvPicPr>
            <a:picLocks noChangeAspect="1"/>
          </p:cNvPicPr>
          <p:nvPr/>
        </p:nvPicPr>
        <p:blipFill>
          <a:blip r:embed="rId3"/>
          <a:stretch>
            <a:fillRect/>
          </a:stretch>
        </p:blipFill>
        <p:spPr>
          <a:xfrm>
            <a:off x="7049997" y="772160"/>
            <a:ext cx="4827103" cy="2656840"/>
          </a:xfrm>
          <a:prstGeom prst="rect">
            <a:avLst/>
          </a:prstGeom>
        </p:spPr>
      </p:pic>
      <p:sp>
        <p:nvSpPr>
          <p:cNvPr id="14" name="TextBox 13">
            <a:extLst>
              <a:ext uri="{FF2B5EF4-FFF2-40B4-BE49-F238E27FC236}">
                <a16:creationId xmlns:a16="http://schemas.microsoft.com/office/drawing/2014/main" id="{1852642C-5F03-9951-1601-C10CD23FA894}"/>
              </a:ext>
            </a:extLst>
          </p:cNvPr>
          <p:cNvSpPr txBox="1"/>
          <p:nvPr/>
        </p:nvSpPr>
        <p:spPr>
          <a:xfrm>
            <a:off x="225965" y="4146998"/>
            <a:ext cx="11060752" cy="2092881"/>
          </a:xfrm>
          <a:prstGeom prst="rect">
            <a:avLst/>
          </a:prstGeom>
          <a:noFill/>
        </p:spPr>
        <p:txBody>
          <a:bodyPr wrap="square">
            <a:spAutoFit/>
          </a:bodyPr>
          <a:lstStyle/>
          <a:p>
            <a:pPr marL="285750" indent="-285750">
              <a:spcBef>
                <a:spcPts val="600"/>
              </a:spcBef>
              <a:spcAft>
                <a:spcPts val="600"/>
              </a:spcAft>
              <a:buFont typeface="Wingdings" panose="05000000000000000000" pitchFamily="2" charset="2"/>
              <a:buChar char="v"/>
            </a:pPr>
            <a:r>
              <a:rPr lang="en-US" dirty="0">
                <a:solidFill>
                  <a:srgbClr val="FFFF00"/>
                </a:solidFill>
              </a:rPr>
              <a:t>Launch targeted service recovery programs in zones with high negative feedback.</a:t>
            </a:r>
          </a:p>
          <a:p>
            <a:pPr marL="285750" indent="-285750">
              <a:spcBef>
                <a:spcPts val="600"/>
              </a:spcBef>
              <a:spcAft>
                <a:spcPts val="600"/>
              </a:spcAft>
              <a:buFont typeface="Wingdings" panose="05000000000000000000" pitchFamily="2" charset="2"/>
              <a:buChar char="v"/>
            </a:pPr>
            <a:r>
              <a:rPr lang="en-US" dirty="0">
                <a:solidFill>
                  <a:srgbClr val="FFFF00"/>
                </a:solidFill>
              </a:rPr>
              <a:t>Introduce post-delivery follow-ups and satisfaction surveys to capture real-time sentiment.</a:t>
            </a:r>
          </a:p>
          <a:p>
            <a:pPr marL="285750" indent="-285750">
              <a:spcBef>
                <a:spcPts val="600"/>
              </a:spcBef>
              <a:spcAft>
                <a:spcPts val="600"/>
              </a:spcAft>
              <a:buFont typeface="Wingdings" panose="05000000000000000000" pitchFamily="2" charset="2"/>
              <a:buChar char="v"/>
            </a:pPr>
            <a:r>
              <a:rPr lang="en-US" dirty="0">
                <a:solidFill>
                  <a:srgbClr val="FFFF00"/>
                </a:solidFill>
              </a:rPr>
              <a:t>Analyze top drivers of negative feedback (e.g., delays, missed ETAs, poor communication).</a:t>
            </a:r>
          </a:p>
          <a:p>
            <a:pPr marL="285750" indent="-285750">
              <a:spcBef>
                <a:spcPts val="600"/>
              </a:spcBef>
              <a:spcAft>
                <a:spcPts val="600"/>
              </a:spcAft>
              <a:buFont typeface="Wingdings" panose="05000000000000000000" pitchFamily="2" charset="2"/>
              <a:buChar char="v"/>
            </a:pPr>
            <a:r>
              <a:rPr lang="en-US" dirty="0">
                <a:solidFill>
                  <a:srgbClr val="FFFF00"/>
                </a:solidFill>
              </a:rPr>
              <a:t>Implement SOPs for high-risk zones to improve consistency and responsiveness.</a:t>
            </a:r>
          </a:p>
          <a:p>
            <a:pPr marL="285750" indent="-285750">
              <a:spcBef>
                <a:spcPts val="600"/>
              </a:spcBef>
              <a:spcAft>
                <a:spcPts val="600"/>
              </a:spcAft>
              <a:buFont typeface="Wingdings" panose="05000000000000000000" pitchFamily="2" charset="2"/>
              <a:buChar char="v"/>
            </a:pPr>
            <a:r>
              <a:rPr lang="en-US" dirty="0">
                <a:solidFill>
                  <a:srgbClr val="FFFF00"/>
                </a:solidFill>
              </a:rPr>
              <a:t>Incentivize drivers and teams in zones with rising positive feedback.</a:t>
            </a:r>
          </a:p>
        </p:txBody>
      </p:sp>
    </p:spTree>
    <p:extLst>
      <p:ext uri="{BB962C8B-B14F-4D97-AF65-F5344CB8AC3E}">
        <p14:creationId xmlns:p14="http://schemas.microsoft.com/office/powerpoint/2010/main" val="1800861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D3431-8B6B-B60D-7F8C-D8CC05A5BFE6}"/>
            </a:ext>
          </a:extLst>
        </p:cNvPr>
        <p:cNvGrpSpPr/>
        <p:nvPr/>
      </p:nvGrpSpPr>
      <p:grpSpPr>
        <a:xfrm>
          <a:off x="0" y="0"/>
          <a:ext cx="0" cy="0"/>
          <a:chOff x="0" y="0"/>
          <a:chExt cx="0" cy="0"/>
        </a:xfrm>
      </p:grpSpPr>
      <p:pic>
        <p:nvPicPr>
          <p:cNvPr id="7" name="Picture 6" descr="A thank you card with gold text&#10;&#10;AI-generated content may be incorrect.">
            <a:extLst>
              <a:ext uri="{FF2B5EF4-FFF2-40B4-BE49-F238E27FC236}">
                <a16:creationId xmlns:a16="http://schemas.microsoft.com/office/drawing/2014/main" id="{21B1E6A8-40AC-D76B-7B30-5008F05A4198}"/>
              </a:ext>
            </a:extLst>
          </p:cNvPr>
          <p:cNvPicPr>
            <a:picLocks noChangeAspect="1"/>
          </p:cNvPicPr>
          <p:nvPr/>
        </p:nvPicPr>
        <p:blipFill>
          <a:blip r:embed="rId3"/>
          <a:stretch>
            <a:fillRect/>
          </a:stretch>
        </p:blipFill>
        <p:spPr>
          <a:xfrm>
            <a:off x="2605947" y="1619122"/>
            <a:ext cx="6980105" cy="2949196"/>
          </a:xfrm>
          <a:prstGeom prst="rect">
            <a:avLst/>
          </a:prstGeom>
        </p:spPr>
      </p:pic>
    </p:spTree>
    <p:extLst>
      <p:ext uri="{BB962C8B-B14F-4D97-AF65-F5344CB8AC3E}">
        <p14:creationId xmlns:p14="http://schemas.microsoft.com/office/powerpoint/2010/main" val="1130511489"/>
      </p:ext>
    </p:extLst>
  </p:cSld>
  <p:clrMapOvr>
    <a:masterClrMapping/>
  </p:clrMapOvr>
</p:sld>
</file>

<file path=ppt/theme/theme1.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Walbaum Display"/>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3DFloatVTI" id="{F59BA300-ED19-4B39-9AE3-7882B1DE8B78}" vid="{0FEC63E3-719F-4F50-9F1E-5B8BAF3910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2F49CD38-5B57-4682-9FCE-B9174068D0AE}">
  <ds:schemaRefs>
    <ds:schemaRef ds:uri="http://schemas.microsoft.com/sharepoint/v3/contenttype/forms"/>
  </ds:schemaRefs>
</ds:datastoreItem>
</file>

<file path=customXml/itemProps2.xml><?xml version="1.0" encoding="utf-8"?>
<ds:datastoreItem xmlns:ds="http://schemas.openxmlformats.org/officeDocument/2006/customXml" ds:itemID="{797783A8-901D-4F73-81D7-AA6841BEB3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F342EE1-43E5-4AFB-895D-B61B9656DC14}">
  <ds:schemaRefs>
    <ds:schemaRef ds:uri="http://schemas.microsoft.com/office/2006/documentManagement/types"/>
    <ds:schemaRef ds:uri="http://schemas.microsoft.com/sharepoint/v3"/>
    <ds:schemaRef ds:uri="http://purl.org/dc/dcmitype/"/>
    <ds:schemaRef ds:uri="http://purl.org/dc/elements/1.1/"/>
    <ds:schemaRef ds:uri="http://purl.org/dc/terms/"/>
    <ds:schemaRef ds:uri="http://schemas.microsoft.com/office/infopath/2007/PartnerControls"/>
    <ds:schemaRef ds:uri="http://schemas.microsoft.com/office/2006/metadata/properties"/>
    <ds:schemaRef ds:uri="http://www.w3.org/XML/1998/namespace"/>
    <ds:schemaRef ds:uri="http://schemas.openxmlformats.org/package/2006/metadata/core-properties"/>
    <ds:schemaRef ds:uri="230e9df3-be65-4c73-a93b-d1236ebd677e"/>
    <ds:schemaRef ds:uri="16c05727-aa75-4e4a-9b5f-8a80a1165891"/>
    <ds:schemaRef ds:uri="71af3243-3dd4-4a8d-8c0d-dd76da1f02a5"/>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{FA659D28-95D2-4AAB-93C3-3B1AA159B3F6}TF7eddf224-c89c-478f-8f2f-bfb086892169e70e2347_win32-b3bdf7c6e0ee</Template>
  <TotalTime>695</TotalTime>
  <Words>1139</Words>
  <Application>Microsoft Office PowerPoint</Application>
  <PresentationFormat>Widescreen</PresentationFormat>
  <Paragraphs>117</Paragraphs>
  <Slides>14</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Aptos</vt:lpstr>
      <vt:lpstr>Arial</vt:lpstr>
      <vt:lpstr>Calibri</vt:lpstr>
      <vt:lpstr>Gill Sans MT</vt:lpstr>
      <vt:lpstr>Walbaum Display</vt:lpstr>
      <vt:lpstr>Walbaum Display (Headings)</vt:lpstr>
      <vt:lpstr>Wingdings</vt:lpstr>
      <vt:lpstr>3DFloatVTI</vt:lpstr>
      <vt:lpstr>Presented by   ADELANWA OGUNLOLU</vt:lpstr>
      <vt:lpstr>Agenda</vt:lpstr>
      <vt:lpstr>Business Overview</vt:lpstr>
      <vt:lpstr>Business Challenges</vt:lpstr>
      <vt:lpstr>Key Performance Index</vt:lpstr>
      <vt:lpstr>PowerPoint Presentation</vt:lpstr>
      <vt:lpstr>Insights</vt:lpstr>
      <vt:lpstr>Insights</vt:lpstr>
      <vt:lpstr>Insights</vt:lpstr>
      <vt:lpstr>Insights</vt:lpstr>
      <vt:lpstr>Insights</vt:lpstr>
      <vt:lpstr>Insights</vt:lpstr>
      <vt:lpstr>Insights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Adelanwa Ogunlolu</dc:creator>
  <cp:lastModifiedBy>Adelanwa Ogunlolu</cp:lastModifiedBy>
  <cp:revision>1</cp:revision>
  <dcterms:created xsi:type="dcterms:W3CDTF">2025-11-30T01:38:50Z</dcterms:created>
  <dcterms:modified xsi:type="dcterms:W3CDTF">2026-07-24T19:57:51Z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